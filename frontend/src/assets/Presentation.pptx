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61A7-E716-32A5-13AD-044D0221B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ED125-30B0-C061-1B7E-6EF53EBE3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2E97A-3E31-FB31-F0F7-8E21DA44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CB07A-8D91-3DDF-CA3A-0E6F6ED8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E7110-C495-35EC-E1AA-312EBC9D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5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6F60-D450-9BEF-9EC7-F1CE3761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93CBE-705C-5CA4-1D87-25D0A9693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1B16B-B3C3-B03C-E102-B06BD06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F2AD-2BEF-9336-0303-654BD80D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6E4E-2425-59C3-FE25-4A911761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98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2DA8-F4E8-D5C4-C17F-D92C53E9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DBED4-5890-2064-E15C-C974AD357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C0963-1784-982E-D94A-1275E686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14D5E-4CF3-A741-F8F1-551C7F481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5DDD3-0FC3-61AC-37AE-94AA120B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37E8-2322-8190-A63A-78C94E3C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A1FB-0247-8D37-9331-A85373414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8C62F-CC6E-1CAF-063F-7B3DEFAA6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6F1B2-FCAF-FEB0-D97D-383D1D52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2EAF0-A73E-5300-0C14-AB6A178D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9090D-83FF-9E74-1650-15CE43F2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13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8C6D-63C5-3D35-02A6-E90BD43E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03E8-C0B9-6B0A-2955-EFF2315FA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95E81-E32E-8CE5-5A2C-85C3207C1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6C17F-9C99-C62C-7E15-F89F899EC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A77FD-CC96-8FEC-A043-9ECC84FB7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DD291-4287-99EF-EAA2-2363DDB7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688E9-4B1B-53A4-9B6F-797415BB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D2576-2B45-B6D3-B4B0-5D0E25CF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34F2-E369-B018-57EB-495382CF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D83C9-A2AA-D14A-95D5-4B4C05E3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27D35-866E-A326-1B89-2A68F4AC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3C755-0739-80A6-AC44-5557BC40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97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26FE6-D4A6-2836-E10B-9FBE0F1B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35DC3-0CB0-B0C1-9FCD-15AC4C57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73AD6-7941-135B-53C9-78890156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36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535E-A6F1-1103-1E76-C6DF36FE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9D1-AAB7-0BC3-3CBC-6C7BB364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621EB-6A2B-C203-2F98-90BF6FC80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03102-57D0-5D23-371C-295EA45B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15B73-9161-6BC9-783E-C99DFD83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AD697-9EE2-EC36-2215-18E542DE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F9CA-3FE9-F154-31E7-B25D8653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1A6E0-C70C-2939-085F-C27F9FE24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0910D-A6EA-0DE6-2DAF-17E7BF55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87B48-3C1A-7532-0CDA-64D33C3B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DD4C8-7E35-3E01-6044-FB04A6F5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1B539-9C5C-1C2E-27F3-74CCB30E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04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99C3-FDAA-6C3C-BB66-EACCFA37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A0FBA-097C-01E7-F49B-569F70A4B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3576C-A899-B265-0A43-B1994703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041E2-663E-4B22-9383-B406B47A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418B4-9551-49BC-01B5-B80A7908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7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C08BAC-CFDD-907D-CABF-90227685E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8DE42-57A4-179A-412B-195D17D2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7011D-E647-BC51-D9F3-6BD24F25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29C1-E50F-DB16-9F35-D11B7FC9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FAF60-4A85-53E8-E674-7ECB409C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15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F2DEA-50DE-4349-79B9-7D728221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B2783-57F1-43A7-1B06-ED50832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EC74C-F7C7-1D36-91AA-B2CB3C7BB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6C1E8-6DFE-4AB9-BC15-72091564C0E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3C4A-466F-78B5-512D-6E5843960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79C6A-99C8-1224-7419-FA9968EE9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3F658-E941-409F-A105-FE250F0AD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51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9DF7D-94EA-6987-A2CF-D197F8309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using C (Student Record System)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DE7CC-5FA6-0D13-FC83-CA37C49207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rgbClr val="00B0F0"/>
                </a:solidFill>
              </a:rPr>
              <a:t>Searching Student Data using Roll Number</a:t>
            </a:r>
            <a:endParaRPr lang="en-IN" sz="35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0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D1F7-67D6-D89C-8088-36793A92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What is Binary 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1044-917F-6699-5D29-DB43146FE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Binary Search is a fast searching algorithm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It works only on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sorted data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Instead of checking all elements, it: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Divides data into halves 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Eliminates half each step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Find roll no in sorted list → faster than linear search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0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C075-FA95-A89F-B61B-07ED83CA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Why Binary 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BD1FA-11BC-4FFA-A07F-96816556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500" dirty="0"/>
              <a:t>Faster than linear search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Useful when:</a:t>
            </a:r>
          </a:p>
          <a:p>
            <a:r>
              <a:rPr lang="en-US" sz="3500" dirty="0"/>
              <a:t>Data is large </a:t>
            </a:r>
          </a:p>
          <a:p>
            <a:r>
              <a:rPr lang="en-US" sz="3500" dirty="0"/>
              <a:t>Data is sorted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01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3465-379D-037B-CA55-7336A270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Real 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FC1D-21F3-E84D-1062-BBA0CB6EE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Searching student by </a:t>
            </a:r>
            <a:r>
              <a:rPr lang="en-US" sz="3500" b="1" dirty="0"/>
              <a:t>roll number in college database</a:t>
            </a:r>
            <a:endParaRPr lang="en-US" sz="3500" dirty="0"/>
          </a:p>
          <a:p>
            <a:r>
              <a:rPr lang="en-US" sz="3500" dirty="0"/>
              <a:t>Instead of checking all students:</a:t>
            </a:r>
          </a:p>
          <a:p>
            <a:r>
              <a:rPr lang="en-US" sz="3500" dirty="0"/>
              <a:t>Start from middle </a:t>
            </a:r>
          </a:p>
          <a:p>
            <a:r>
              <a:rPr lang="en-US" sz="3500" dirty="0"/>
              <a:t>Decide left or right</a:t>
            </a:r>
          </a:p>
          <a:p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393039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D3D7-75FA-65A7-C736-671C5B3C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Project Idea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17DE1B-F46C-78D9-8EE9-C0E497CB25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764" y="1387844"/>
            <a:ext cx="11049000" cy="472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800" dirty="0">
                <a:solidFill>
                  <a:srgbClr val="C00000"/>
                </a:solidFill>
              </a:rPr>
              <a:t>I created a </a:t>
            </a:r>
            <a:r>
              <a:rPr lang="en-US" sz="3800" b="1" dirty="0">
                <a:solidFill>
                  <a:srgbClr val="C00000"/>
                </a:solidFill>
              </a:rPr>
              <a:t>Student Record System using Flutter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student roll numbers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marks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student using roll number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Pass/Fail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97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DD0B-71D6-A7B5-16CF-D71F6D1ED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How Binary Search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F6B819-25E1-E2D5-EF53-68B12B2953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8539" y="1225934"/>
            <a:ext cx="8185220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middle element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with target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equal → found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greater → search right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smaller → search left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</a:t>
            </a:r>
          </a:p>
        </p:txBody>
      </p:sp>
    </p:spTree>
    <p:extLst>
      <p:ext uri="{BB962C8B-B14F-4D97-AF65-F5344CB8AC3E}">
        <p14:creationId xmlns:p14="http://schemas.microsoft.com/office/powerpoint/2010/main" val="54290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03E3-4DAD-B6B6-FE7D-2F0F5030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Algorithm (simple)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C5E14-B438-87CE-B8F7-57705C066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left = 0, right = n-1</a:t>
            </a:r>
          </a:p>
          <a:p>
            <a:endParaRPr lang="en-US" dirty="0"/>
          </a:p>
          <a:p>
            <a:r>
              <a:rPr lang="en-US" dirty="0"/>
              <a:t>While left &lt;= right:</a:t>
            </a:r>
          </a:p>
          <a:p>
            <a:r>
              <a:rPr lang="en-US" dirty="0"/>
              <a:t>    mid = (left + right) / 2</a:t>
            </a:r>
          </a:p>
          <a:p>
            <a:endParaRPr lang="en-US" sz="3000" dirty="0"/>
          </a:p>
          <a:p>
            <a:r>
              <a:rPr lang="en-US" dirty="0"/>
              <a:t>    If element == target → Found</a:t>
            </a:r>
          </a:p>
          <a:p>
            <a:r>
              <a:rPr lang="en-US" dirty="0"/>
              <a:t>    If element &lt; target → search right</a:t>
            </a:r>
          </a:p>
          <a:p>
            <a:r>
              <a:rPr lang="en-US" dirty="0"/>
              <a:t>    If element &gt; target → search left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51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A666-A5E4-037B-5B39-A999BD4D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W</a:t>
            </a:r>
            <a:r>
              <a:rPr lang="en-IN" sz="6000" dirty="0" err="1">
                <a:solidFill>
                  <a:srgbClr val="C00000"/>
                </a:solidFill>
              </a:rPr>
              <a:t>orking</a:t>
            </a:r>
            <a:r>
              <a:rPr lang="en-IN" sz="6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19F18-FD74-4B8A-40DF-B0A21A51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r>
              <a:rPr lang="en-US" dirty="0"/>
              <a:t>IDs   : 101, 102, 103, 104, 105, 106, 107</a:t>
            </a:r>
          </a:p>
          <a:p>
            <a:r>
              <a:rPr lang="en-US" dirty="0"/>
              <a:t>Marks :  78,  90,  67,  88,  45,  92,  81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Search Roll Number = 104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49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C3A4DD-FD44-7F4C-19C2-9B74083EEC10}"/>
              </a:ext>
            </a:extLst>
          </p:cNvPr>
          <p:cNvSpPr txBox="1"/>
          <p:nvPr/>
        </p:nvSpPr>
        <p:spPr>
          <a:xfrm>
            <a:off x="1379137" y="612844"/>
            <a:ext cx="96238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Step 1</a:t>
            </a:r>
          </a:p>
          <a:p>
            <a:pPr>
              <a:buNone/>
            </a:pPr>
            <a:r>
              <a:rPr lang="en-US" sz="4000" dirty="0"/>
              <a:t>Initial values:</a:t>
            </a:r>
          </a:p>
          <a:p>
            <a:pPr rtl="0">
              <a:buNone/>
            </a:pPr>
            <a:r>
              <a:rPr lang="en-US" sz="4000" dirty="0">
                <a:latin typeface="Courier New" panose="02070309020205020404" pitchFamily="49" charset="0"/>
              </a:rPr>
              <a:t>left = 0</a:t>
            </a:r>
            <a:br>
              <a:rPr lang="en-US" sz="4000" dirty="0">
                <a:latin typeface="Courier New" panose="02070309020205020404" pitchFamily="49" charset="0"/>
              </a:rPr>
            </a:br>
            <a:r>
              <a:rPr lang="en-US" sz="4000" dirty="0">
                <a:latin typeface="Courier New" panose="02070309020205020404" pitchFamily="49" charset="0"/>
              </a:rPr>
              <a:t>right = 6</a:t>
            </a:r>
          </a:p>
          <a:p>
            <a:pPr>
              <a:buNone/>
            </a:pPr>
            <a:r>
              <a:rPr lang="en-US" sz="4000" dirty="0"/>
              <a:t>Find middle:</a:t>
            </a:r>
          </a:p>
          <a:p>
            <a:pPr rtl="0">
              <a:buNone/>
            </a:pPr>
            <a:r>
              <a:rPr lang="en-US" sz="4000" dirty="0">
                <a:latin typeface="Courier New" panose="02070309020205020404" pitchFamily="49" charset="0"/>
              </a:rPr>
              <a:t>mid = (0 + 6) / 2 = 3</a:t>
            </a:r>
          </a:p>
          <a:p>
            <a:pPr>
              <a:buNone/>
            </a:pPr>
            <a:r>
              <a:rPr lang="en-US" sz="4000" dirty="0"/>
              <a:t> Check:</a:t>
            </a:r>
          </a:p>
          <a:p>
            <a:pPr rtl="0">
              <a:buNone/>
            </a:pPr>
            <a:r>
              <a:rPr lang="en-US" sz="4000" dirty="0">
                <a:latin typeface="Courier New" panose="02070309020205020404" pitchFamily="49" charset="0"/>
              </a:rPr>
              <a:t>ids[3] = 104</a:t>
            </a:r>
          </a:p>
          <a:p>
            <a:pPr rtl="0">
              <a:buNone/>
            </a:pPr>
            <a:r>
              <a:rPr lang="en-US" sz="4000" dirty="0">
                <a:solidFill>
                  <a:srgbClr val="C00000"/>
                </a:solidFill>
                <a:latin typeface="Courier New" panose="02070309020205020404" pitchFamily="49" charset="0"/>
              </a:rPr>
              <a:t>fund</a:t>
            </a:r>
          </a:p>
        </p:txBody>
      </p:sp>
    </p:spTree>
    <p:extLst>
      <p:ext uri="{BB962C8B-B14F-4D97-AF65-F5344CB8AC3E}">
        <p14:creationId xmlns:p14="http://schemas.microsoft.com/office/powerpoint/2010/main" val="168793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4898E-FB45-C1B3-E2BD-0043D229F2B2}"/>
              </a:ext>
            </a:extLst>
          </p:cNvPr>
          <p:cNvSpPr txBox="1"/>
          <p:nvPr/>
        </p:nvSpPr>
        <p:spPr>
          <a:xfrm>
            <a:off x="241161" y="0"/>
            <a:ext cx="834766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solidFill>
                  <a:srgbClr val="C00000"/>
                </a:solidFill>
              </a:rPr>
              <a:t>Search Roll Number = </a:t>
            </a:r>
            <a:r>
              <a:rPr lang="en-IN" sz="3500" b="1" dirty="0">
                <a:solidFill>
                  <a:srgbClr val="C00000"/>
                </a:solidFill>
              </a:rPr>
              <a:t>106</a:t>
            </a:r>
            <a:endParaRPr lang="en-IN" sz="35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3F662-9C4E-A9C2-0E95-B38B91D32D19}"/>
              </a:ext>
            </a:extLst>
          </p:cNvPr>
          <p:cNvSpPr txBox="1"/>
          <p:nvPr/>
        </p:nvSpPr>
        <p:spPr>
          <a:xfrm>
            <a:off x="442128" y="433648"/>
            <a:ext cx="1127425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b="1" dirty="0"/>
              <a:t>Step 1</a:t>
            </a:r>
          </a:p>
          <a:p>
            <a:pPr rtl="0">
              <a:buNone/>
            </a:pPr>
            <a:r>
              <a:rPr lang="en-US" sz="3000" dirty="0">
                <a:latin typeface="Courier New" panose="02070309020205020404" pitchFamily="49" charset="0"/>
              </a:rPr>
              <a:t>left = 0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right = 6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mid = 3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ids[3] = 104</a:t>
            </a:r>
          </a:p>
          <a:p>
            <a:pPr>
              <a:buNone/>
            </a:pPr>
            <a:r>
              <a:rPr lang="en-US" sz="3000" dirty="0"/>
              <a:t> 106 &gt; 104 → </a:t>
            </a:r>
            <a:r>
              <a:rPr lang="en-US" sz="3000" b="1" dirty="0"/>
              <a:t>Search RIGHT side</a:t>
            </a:r>
            <a:endParaRPr lang="en-US" sz="3000" dirty="0"/>
          </a:p>
          <a:p>
            <a:pPr rtl="0">
              <a:buNone/>
            </a:pPr>
            <a:r>
              <a:rPr lang="en-US" sz="3000" dirty="0">
                <a:latin typeface="Courier New" panose="02070309020205020404" pitchFamily="49" charset="0"/>
              </a:rPr>
              <a:t>left = mid + 1 = 4</a:t>
            </a:r>
          </a:p>
          <a:p>
            <a:pPr>
              <a:buNone/>
            </a:pPr>
            <a:br>
              <a:rPr lang="en-US" sz="3000" dirty="0"/>
            </a:br>
            <a:endParaRPr lang="en-US" sz="3000" dirty="0"/>
          </a:p>
          <a:p>
            <a:pPr>
              <a:buNone/>
            </a:pPr>
            <a:r>
              <a:rPr lang="en-US" sz="3000" b="1" dirty="0"/>
              <a:t> Step 2</a:t>
            </a:r>
          </a:p>
          <a:p>
            <a:pPr rtl="0">
              <a:buNone/>
            </a:pPr>
            <a:r>
              <a:rPr lang="en-US" sz="3000" dirty="0">
                <a:latin typeface="Courier New" panose="02070309020205020404" pitchFamily="49" charset="0"/>
              </a:rPr>
              <a:t>left = 4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right = 6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mid = (4 + 6) / 2 = 5</a:t>
            </a:r>
            <a:br>
              <a:rPr lang="en-US" sz="3000" dirty="0">
                <a:latin typeface="Courier New" panose="02070309020205020404" pitchFamily="49" charset="0"/>
              </a:rPr>
            </a:br>
            <a:r>
              <a:rPr lang="en-US" sz="3000" dirty="0">
                <a:latin typeface="Courier New" panose="02070309020205020404" pitchFamily="49" charset="0"/>
              </a:rPr>
              <a:t>ids[5] = 106</a:t>
            </a:r>
          </a:p>
          <a:p>
            <a:pPr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1834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5516-3074-77B8-4F73-028B9553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25DD4-0645-4DE5-5C0A-23F9D8723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Fast searching</a:t>
            </a:r>
          </a:p>
          <a:p>
            <a:r>
              <a:rPr lang="en-US" sz="3500" dirty="0"/>
              <a:t> Efficient for large data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1669218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9ECE-321E-2108-A3F3-0BBDEE83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solidFill>
                  <a:srgbClr val="C00000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AD244-828E-5A1C-D55E-C75C1F7E0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Data must be sorted</a:t>
            </a:r>
          </a:p>
          <a:p>
            <a:r>
              <a:rPr lang="en-US" sz="3500" dirty="0"/>
              <a:t> Not suitable for small unsorted data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406394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374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Binary Search using C (Student Record System)</vt:lpstr>
      <vt:lpstr>What is Binary Search?</vt:lpstr>
      <vt:lpstr>Why Binary Search?</vt:lpstr>
      <vt:lpstr>Real Life Example</vt:lpstr>
      <vt:lpstr>Project Idea</vt:lpstr>
      <vt:lpstr>How Binary Search Works</vt:lpstr>
      <vt:lpstr>Algorithm (simple)</vt:lpstr>
      <vt:lpstr>Working </vt:lpstr>
      <vt:lpstr>PowerPoint Presentation</vt:lpstr>
      <vt:lpstr>PowerPoint Presentation</vt:lpstr>
      <vt:lpstr>Advantages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galennaver</dc:creator>
  <cp:lastModifiedBy>naveen galennaver</cp:lastModifiedBy>
  <cp:revision>4</cp:revision>
  <dcterms:created xsi:type="dcterms:W3CDTF">2026-03-31T14:02:43Z</dcterms:created>
  <dcterms:modified xsi:type="dcterms:W3CDTF">2026-04-07T15:07:01Z</dcterms:modified>
</cp:coreProperties>
</file>