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theme+xml" PartName="/ppt/theme/theme2.xml"/>
  <Override ContentType="application/vnd.ms-powerpoint.comments+xml" PartName="/ppt/comments/modernComment_101_2A1D5253.xml"/>
  <Override ContentType="application/vnd.openxmlformats-officedocument.presentationml.notesSlide+xml" PartName="/ppt/notesSlides/notesSlide1.xml"/>
  <Override ContentType="application/vnd.ms-powerpoint.revisioninfo+xml" PartName="/ppt/revisionInfo.xml"/>
  <Override ContentType="application/vnd.ms-powerpoint.authors+xml" PartName="/ppt/authors.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app.xml" Type="http://schemas.openxmlformats.org/officeDocument/2006/relationships/extended-properties"/><Relationship Id="rId2" Target="docProps/core.xml" Type="http://schemas.openxmlformats.org/package/2006/relationships/metadata/core-properties"/><Relationship Id="rId1" Target="ppt/presentation.xml" Type="http://schemas.openxmlformats.org/officeDocument/2006/relationships/officeDocument"/><Relationship Id="rId4"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20"/>
  </p:notesMasterIdLst>
  <p:sldIdLst>
    <p:sldId id="256" r:id="rId2"/>
    <p:sldId id="257" r:id="rId3"/>
    <p:sldId id="258" r:id="rId4"/>
    <p:sldId id="259" r:id="rId5"/>
    <p:sldId id="272"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FA964E5-877E-C975-A3AE-922B04922EC4}" name="naveen galennaver" initials="ng" userId="6dc458cf81c4240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A3F865-51D4-4020-8B2D-9D03E5BDF5E9}" v="32" dt="2026-03-08T16:53:52.9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43"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omments/modernComment_101_2A1D5253.xml><?xml version="1.0" encoding="utf-8"?>
<p188:cmLst xmlns:a="http://schemas.openxmlformats.org/drawingml/2006/main" xmlns:r="http://schemas.openxmlformats.org/officeDocument/2006/relationships" xmlns:p188="http://schemas.microsoft.com/office/powerpoint/2018/8/main">
  <p188:cm id="{636624DB-A636-436B-A6B1-0A1197F112AB}" authorId="{3FA964E5-877E-C975-A3AE-922B04922EC4}" created="2026-03-03T13:21:44.685">
    <pc:sldMkLst xmlns:pc="http://schemas.microsoft.com/office/powerpoint/2013/main/command">
      <pc:docMk/>
      <pc:sldMk cId="706564691" sldId="257"/>
    </pc:sldMkLst>
    <p188:replyLst>
      <p188:reply id="{3EAEF573-B4FB-4C2B-B1F2-B1B2F934B0E5}" authorId="{3FA964E5-877E-C975-A3AE-922B04922EC4}" created="2026-03-06T17:21:31.887">
        <p188:txBody>
          <a:bodyPr/>
          <a:lstStyle/>
          <a:p>
            <a:r>
              <a:rPr lang="en-IN"/>
              <a:t>Add you photo and details in siplemple add ai skils also 
</a:t>
            </a:r>
          </a:p>
        </p188:txBody>
      </p188:reply>
    </p188:replyLst>
    <p188:txBody>
      <a:bodyPr/>
      <a:lstStyle/>
      <a:p>
        <a:r>
          <a:rPr lang="en-IN"/>
          <a:t>no</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D5FA41-BC28-47E9-BED2-C690A6AB77F8}" type="datetimeFigureOut">
              <a:rPr lang="en-IN" smtClean="0"/>
              <a:t>08-03-2026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707AF6-6D20-4360-AD39-D459473FFACD}" type="slidenum">
              <a:rPr lang="en-IN" smtClean="0"/>
              <a:t>‹#›</a:t>
            </a:fld>
            <a:endParaRPr lang="en-IN"/>
          </a:p>
        </p:txBody>
      </p:sp>
    </p:spTree>
    <p:extLst>
      <p:ext uri="{BB962C8B-B14F-4D97-AF65-F5344CB8AC3E}">
        <p14:creationId xmlns:p14="http://schemas.microsoft.com/office/powerpoint/2010/main" val="1634983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B707AF6-6D20-4360-AD39-D459473FFACD}" type="slidenum">
              <a:rPr lang="en-IN" smtClean="0"/>
              <a:t>11</a:t>
            </a:fld>
            <a:endParaRPr lang="en-IN"/>
          </a:p>
        </p:txBody>
      </p:sp>
    </p:spTree>
    <p:extLst>
      <p:ext uri="{BB962C8B-B14F-4D97-AF65-F5344CB8AC3E}">
        <p14:creationId xmlns:p14="http://schemas.microsoft.com/office/powerpoint/2010/main" val="4173475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GB"/>
              <a:t>Click to edit Master title style</a:t>
            </a:r>
            <a:endParaRPr lang="en-US"/>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04F114-405F-4597-B8AE-3150C49BFD78}"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9DD1FE-29D6-4671-90CD-A0EC46153870}"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46238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504F114-405F-4597-B8AE-3150C49BFD78}"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9DD1FE-29D6-4671-90CD-A0EC46153870}" type="slidenum">
              <a:rPr lang="en-IN" smtClean="0"/>
              <a:t>‹#›</a:t>
            </a:fld>
            <a:endParaRPr lang="en-IN"/>
          </a:p>
        </p:txBody>
      </p:sp>
    </p:spTree>
    <p:extLst>
      <p:ext uri="{BB962C8B-B14F-4D97-AF65-F5344CB8AC3E}">
        <p14:creationId xmlns:p14="http://schemas.microsoft.com/office/powerpoint/2010/main" val="2455811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GB"/>
              <a:t>Click to edit Master title style</a:t>
            </a:r>
            <a:endParaRPr lang="en-US"/>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504F114-405F-4597-B8AE-3150C49BFD78}"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9DD1FE-29D6-4671-90CD-A0EC46153870}" type="slidenum">
              <a:rPr lang="en-IN" smtClean="0"/>
              <a:t>‹#›</a:t>
            </a:fld>
            <a:endParaRPr lang="en-IN"/>
          </a:p>
        </p:txBody>
      </p:sp>
    </p:spTree>
    <p:extLst>
      <p:ext uri="{BB962C8B-B14F-4D97-AF65-F5344CB8AC3E}">
        <p14:creationId xmlns:p14="http://schemas.microsoft.com/office/powerpoint/2010/main" val="2127409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84211" y="685800"/>
            <a:ext cx="4937655" cy="361526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C504F114-405F-4597-B8AE-3150C49BFD78}" type="datetimeFigureOut">
              <a:rPr lang="en-IN" smtClean="0"/>
              <a:t>08-03-2026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9DD1FE-29D6-4671-90CD-A0EC46153870}" type="slidenum">
              <a:rPr lang="en-IN" smtClean="0"/>
              <a:t>‹#›</a:t>
            </a:fld>
            <a:endParaRPr lang="en-IN"/>
          </a:p>
        </p:txBody>
      </p:sp>
    </p:spTree>
    <p:extLst>
      <p:ext uri="{BB962C8B-B14F-4D97-AF65-F5344CB8AC3E}">
        <p14:creationId xmlns:p14="http://schemas.microsoft.com/office/powerpoint/2010/main" val="2492357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504F114-405F-4597-B8AE-3150C49BFD78}" type="datetimeFigureOut">
              <a:rPr lang="en-IN" smtClean="0"/>
              <a:t>08-03-2026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79DD1FE-29D6-4671-90CD-A0EC46153870}" type="slidenum">
              <a:rPr lang="en-IN" smtClean="0"/>
              <a:t>‹#›</a:t>
            </a:fld>
            <a:endParaRPr lang="en-IN"/>
          </a:p>
        </p:txBody>
      </p:sp>
    </p:spTree>
    <p:extLst>
      <p:ext uri="{BB962C8B-B14F-4D97-AF65-F5344CB8AC3E}">
        <p14:creationId xmlns:p14="http://schemas.microsoft.com/office/powerpoint/2010/main" val="1735819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C504F114-405F-4597-B8AE-3150C49BFD78}" type="datetimeFigureOut">
              <a:rPr lang="en-IN" smtClean="0"/>
              <a:t>08-03-2026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79DD1FE-29D6-4671-90CD-A0EC46153870}" type="slidenum">
              <a:rPr lang="en-IN" smtClean="0"/>
              <a:t>‹#›</a:t>
            </a:fld>
            <a:endParaRPr lang="en-IN"/>
          </a:p>
        </p:txBody>
      </p:sp>
    </p:spTree>
    <p:extLst>
      <p:ext uri="{BB962C8B-B14F-4D97-AF65-F5344CB8AC3E}">
        <p14:creationId xmlns:p14="http://schemas.microsoft.com/office/powerpoint/2010/main" val="3694700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04F114-405F-4597-B8AE-3150C49BFD78}" type="datetimeFigureOut">
              <a:rPr lang="en-IN" smtClean="0"/>
              <a:t>08-03-2026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79DD1FE-29D6-4671-90CD-A0EC46153870}" type="slidenum">
              <a:rPr lang="en-IN" smtClean="0"/>
              <a:t>‹#›</a:t>
            </a:fld>
            <a:endParaRPr lang="en-IN"/>
          </a:p>
        </p:txBody>
      </p:sp>
    </p:spTree>
    <p:extLst>
      <p:ext uri="{BB962C8B-B14F-4D97-AF65-F5344CB8AC3E}">
        <p14:creationId xmlns:p14="http://schemas.microsoft.com/office/powerpoint/2010/main" val="4080510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GB"/>
              <a:t>Click to edit Master title style</a:t>
            </a:r>
            <a:endParaRPr lang="en-US"/>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504F114-405F-4597-B8AE-3150C49BFD78}" type="datetimeFigureOut">
              <a:rPr lang="en-IN" smtClean="0"/>
              <a:t>08-03-2026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9DD1FE-29D6-4671-90CD-A0EC46153870}" type="slidenum">
              <a:rPr lang="en-IN" smtClean="0"/>
              <a:t>‹#›</a:t>
            </a:fld>
            <a:endParaRPr lang="en-IN"/>
          </a:p>
        </p:txBody>
      </p:sp>
    </p:spTree>
    <p:extLst>
      <p:ext uri="{BB962C8B-B14F-4D97-AF65-F5344CB8AC3E}">
        <p14:creationId xmlns:p14="http://schemas.microsoft.com/office/powerpoint/2010/main" val="1935650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GB"/>
              <a:t>Click to edit Master title style</a:t>
            </a:r>
            <a:endParaRPr lang="en-US"/>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504F114-405F-4597-B8AE-3150C49BFD78}" type="datetimeFigureOut">
              <a:rPr lang="en-IN" smtClean="0"/>
              <a:t>08-03-2026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9DD1FE-29D6-4671-90CD-A0EC46153870}" type="slidenum">
              <a:rPr lang="en-IN" smtClean="0"/>
              <a:t>‹#›</a:t>
            </a:fld>
            <a:endParaRPr lang="en-IN"/>
          </a:p>
        </p:txBody>
      </p:sp>
    </p:spTree>
    <p:extLst>
      <p:ext uri="{BB962C8B-B14F-4D97-AF65-F5344CB8AC3E}">
        <p14:creationId xmlns:p14="http://schemas.microsoft.com/office/powerpoint/2010/main" val="181189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Date Placeholder 2"/>
          <p:cNvSpPr>
            <a:spLocks noGrp="1"/>
          </p:cNvSpPr>
          <p:nvPr>
            <p:ph type="dt" sz="half" idx="10"/>
          </p:nvPr>
        </p:nvSpPr>
        <p:spPr/>
        <p:txBody>
          <a:bodyPr/>
          <a:lstStyle/>
          <a:p>
            <a:fld id="{C504F114-405F-4597-B8AE-3150C49BFD78}" type="datetimeFigureOut">
              <a:rPr lang="en-IN" smtClean="0"/>
              <a:t>08-03-2026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79DD1FE-29D6-4671-90CD-A0EC46153870}" type="slidenum">
              <a:rPr lang="en-IN" smtClean="0"/>
              <a:t>‹#›</a:t>
            </a:fld>
            <a:endParaRPr lang="en-IN"/>
          </a:p>
        </p:txBody>
      </p:sp>
    </p:spTree>
    <p:extLst>
      <p:ext uri="{BB962C8B-B14F-4D97-AF65-F5344CB8AC3E}">
        <p14:creationId xmlns:p14="http://schemas.microsoft.com/office/powerpoint/2010/main" val="1891557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GB"/>
              <a:t>Click to edit Master title style</a:t>
            </a:r>
            <a:endParaRPr lang="en-US"/>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504F114-405F-4597-B8AE-3150C49BFD78}"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9DD1FE-29D6-4671-90CD-A0EC46153870}" type="slidenum">
              <a:rPr lang="en-IN" smtClean="0"/>
              <a:t>‹#›</a:t>
            </a:fld>
            <a:endParaRPr lang="en-IN"/>
          </a:p>
        </p:txBody>
      </p:sp>
    </p:spTree>
    <p:extLst>
      <p:ext uri="{BB962C8B-B14F-4D97-AF65-F5344CB8AC3E}">
        <p14:creationId xmlns:p14="http://schemas.microsoft.com/office/powerpoint/2010/main" val="6269152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GB"/>
              <a:t>Click to edit Master title style</a:t>
            </a:r>
            <a:endParaRPr lang="en-US"/>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504F114-405F-4597-B8AE-3150C49BFD78}"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9DD1FE-29D6-4671-90CD-A0EC46153870}"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spTree>
    <p:extLst>
      <p:ext uri="{BB962C8B-B14F-4D97-AF65-F5344CB8AC3E}">
        <p14:creationId xmlns:p14="http://schemas.microsoft.com/office/powerpoint/2010/main" val="7342128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GB"/>
              <a:t>Click to edit Master title style</a:t>
            </a:r>
            <a:endParaRPr lang="en-US"/>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504F114-405F-4597-B8AE-3150C49BFD78}"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9DD1FE-29D6-4671-90CD-A0EC46153870}" type="slidenum">
              <a:rPr lang="en-IN" smtClean="0"/>
              <a:t>‹#›</a:t>
            </a:fld>
            <a:endParaRPr lang="en-IN"/>
          </a:p>
        </p:txBody>
      </p:sp>
    </p:spTree>
    <p:extLst>
      <p:ext uri="{BB962C8B-B14F-4D97-AF65-F5344CB8AC3E}">
        <p14:creationId xmlns:p14="http://schemas.microsoft.com/office/powerpoint/2010/main" val="1180443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GB"/>
              <a:t>Click to edit Master title style</a:t>
            </a:r>
            <a:endParaRPr lang="en-US"/>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504F114-405F-4597-B8AE-3150C49BFD78}"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9DD1FE-29D6-4671-90CD-A0EC46153870}"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spTree>
    <p:extLst>
      <p:ext uri="{BB962C8B-B14F-4D97-AF65-F5344CB8AC3E}">
        <p14:creationId xmlns:p14="http://schemas.microsoft.com/office/powerpoint/2010/main" val="29938147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GB"/>
              <a:t>Click to edit Master title style</a:t>
            </a:r>
            <a:endParaRPr lang="en-US"/>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504F114-405F-4597-B8AE-3150C49BFD78}"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9DD1FE-29D6-4671-90CD-A0EC46153870}" type="slidenum">
              <a:rPr lang="en-IN" smtClean="0"/>
              <a:t>‹#›</a:t>
            </a:fld>
            <a:endParaRPr lang="en-IN"/>
          </a:p>
        </p:txBody>
      </p:sp>
    </p:spTree>
    <p:extLst>
      <p:ext uri="{BB962C8B-B14F-4D97-AF65-F5344CB8AC3E}">
        <p14:creationId xmlns:p14="http://schemas.microsoft.com/office/powerpoint/2010/main" val="3261077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504F114-405F-4597-B8AE-3150C49BFD78}"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9DD1FE-29D6-4671-90CD-A0EC46153870}" type="slidenum">
              <a:rPr lang="en-IN" smtClean="0"/>
              <a:t>‹#›</a:t>
            </a:fld>
            <a:endParaRPr lang="en-IN"/>
          </a:p>
        </p:txBody>
      </p:sp>
    </p:spTree>
    <p:extLst>
      <p:ext uri="{BB962C8B-B14F-4D97-AF65-F5344CB8AC3E}">
        <p14:creationId xmlns:p14="http://schemas.microsoft.com/office/powerpoint/2010/main" val="35467485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504F114-405F-4597-B8AE-3150C49BFD78}"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9DD1FE-29D6-4671-90CD-A0EC46153870}" type="slidenum">
              <a:rPr lang="en-IN" smtClean="0"/>
              <a:t>‹#›</a:t>
            </a:fld>
            <a:endParaRPr lang="en-IN"/>
          </a:p>
        </p:txBody>
      </p:sp>
    </p:spTree>
    <p:extLst>
      <p:ext uri="{BB962C8B-B14F-4D97-AF65-F5344CB8AC3E}">
        <p14:creationId xmlns:p14="http://schemas.microsoft.com/office/powerpoint/2010/main" val="3377427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C504F114-405F-4597-B8AE-3150C49BFD78}" type="datetimeFigureOut">
              <a:rPr lang="en-IN" smtClean="0"/>
              <a:t>08-03-2026</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579DD1FE-29D6-4671-90CD-A0EC46153870}" type="slidenum">
              <a:rPr lang="en-IN" smtClean="0"/>
              <a:t>‹#›</a:t>
            </a:fld>
            <a:endParaRPr lang="en-IN"/>
          </a:p>
        </p:txBody>
      </p:sp>
    </p:spTree>
    <p:extLst>
      <p:ext uri="{BB962C8B-B14F-4D97-AF65-F5344CB8AC3E}">
        <p14:creationId xmlns:p14="http://schemas.microsoft.com/office/powerpoint/2010/main" val="63579469"/>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arget="../media/image1.jpeg" Type="http://schemas.openxmlformats.org/officeDocument/2006/relationships/image"/><Relationship Id="rId1" Target="../slideLayouts/slideLayout1.xml" Type="http://schemas.openxmlformats.org/officeDocument/2006/relationships/slideLayout"/></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microsoft.com/office/2018/10/relationships/comments" Target="../comments/modernComment_101_2A1D5253.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arget="../media/image5.jpeg" Type="http://schemas.openxmlformats.org/officeDocument/2006/relationships/image"/><Relationship Id="rId1" Target="../slideLayouts/slideLayout8.xml" Type="http://schemas.openxmlformats.org/officeDocument/2006/relationships/slideLayout"/></Relationships>
</file>

<file path=ppt/slides/_rels/slide4.xml.rels><?xml version="1.0" encoding="UTF-8" standalone="yes" ?><Relationships xmlns="http://schemas.openxmlformats.org/package/2006/relationships"><Relationship Id="rId2" Target="../media/image6.jpeg" Type="http://schemas.openxmlformats.org/officeDocument/2006/relationships/image"/><Relationship Id="rId1" Target="../slideLayouts/slideLayout7.xml" Type="http://schemas.openxmlformats.org/officeDocument/2006/relationships/slideLayout"/></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arget="../media/image7.jpeg" Type="http://schemas.openxmlformats.org/officeDocument/2006/relationships/image"/><Relationship Id="rId1" Target="../slideLayouts/slideLayout7.xml" Type="http://schemas.openxmlformats.org/officeDocument/2006/relationships/slideLayout"/></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arget="../media/image8.jpeg" Type="http://schemas.openxmlformats.org/officeDocument/2006/relationships/image"/><Relationship Id="rId1" Target="../slideLayouts/slideLayout7.xml" Type="http://schemas.openxmlformats.org/officeDocument/2006/relationships/slideLayout"/></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arget="../media/image9.jpeg" Type="http://schemas.openxmlformats.org/officeDocument/2006/relationships/image"/><Relationship Id="rId1" Target="../slideLayouts/slideLayout7.xml" Type="http://schemas.openxmlformats.org/officeDocument/2006/relationships/slideLayout"/></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arget="../media/image10.jpeg" Type="http://schemas.openxmlformats.org/officeDocument/2006/relationships/image"/><Relationship Id="rId1" Target="../slideLayouts/slideLayout7.xml" Type="http://schemas.openxmlformats.org/officeDocument/2006/relationships/slideLayout"/></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arget="../media/image11.jpeg" Type="http://schemas.openxmlformats.org/officeDocument/2006/relationships/image"/><Relationship Id="rId1" Target="../slideLayouts/slideLayout7.xml" Type="http://schemas.openxmlformats.org/officeDocument/2006/relationships/slideLayout"/></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arget="../media/image12.jpeg" Type="http://schemas.openxmlformats.org/officeDocument/2006/relationships/image"/><Relationship Id="rId1" Target="../slideLayouts/slideLayout3.xml" Type="http://schemas.openxmlformats.org/officeDocument/2006/relationships/slideLayout"/></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93359-39BA-D2AE-9055-5234ED983269}"/>
              </a:ext>
            </a:extLst>
          </p:cNvPr>
          <p:cNvSpPr>
            <a:spLocks noGrp="1"/>
          </p:cNvSpPr>
          <p:nvPr>
            <p:ph type="ctrTitle"/>
          </p:nvPr>
        </p:nvSpPr>
        <p:spPr>
          <a:xfrm>
            <a:off x="70338" y="293915"/>
            <a:ext cx="6380704" cy="2641492"/>
          </a:xfrm>
        </p:spPr>
        <p:txBody>
          <a:bodyPr>
            <a:normAutofit fontScale="90000"/>
          </a:bodyPr>
          <a:lstStyle/>
          <a:p>
            <a:r>
              <a:rPr lang="en-US" sz="5400" b="1">
                <a:solidFill>
                  <a:schemeClr val="bg1"/>
                </a:solidFill>
              </a:rPr>
              <a:t>Lifeline AI</a:t>
            </a:r>
            <a:br>
              <a:rPr lang="en-US" sz="5400" b="1">
                <a:solidFill>
                  <a:schemeClr val="bg1"/>
                </a:solidFill>
              </a:rPr>
            </a:br>
            <a:br>
              <a:rPr lang="en-US" sz="5400" b="1">
                <a:solidFill>
                  <a:schemeClr val="bg1"/>
                </a:solidFill>
              </a:rPr>
            </a:br>
            <a:r>
              <a:rPr lang="en-US" sz="3300" b="1">
                <a:solidFill>
                  <a:schemeClr val="bg1"/>
                </a:solidFill>
              </a:rPr>
              <a:t>Unified Emergency &amp; Healthcare Network</a:t>
            </a:r>
            <a:endParaRPr lang="en-IN" sz="3300">
              <a:solidFill>
                <a:schemeClr val="bg1"/>
              </a:solidFill>
            </a:endParaRPr>
          </a:p>
        </p:txBody>
      </p:sp>
      <p:sp>
        <p:nvSpPr>
          <p:cNvPr id="3" name="Subtitle 2">
            <a:extLst>
              <a:ext uri="{FF2B5EF4-FFF2-40B4-BE49-F238E27FC236}">
                <a16:creationId xmlns:a16="http://schemas.microsoft.com/office/drawing/2014/main" id="{BF80B5B3-F5E0-E84C-747F-6460C8D476BF}"/>
              </a:ext>
            </a:extLst>
          </p:cNvPr>
          <p:cNvSpPr>
            <a:spLocks noGrp="1"/>
          </p:cNvSpPr>
          <p:nvPr>
            <p:ph type="subTitle" idx="1"/>
          </p:nvPr>
        </p:nvSpPr>
        <p:spPr>
          <a:xfrm flipH="1" flipV="1">
            <a:off x="-1557495" y="5791200"/>
            <a:ext cx="446310" cy="649793"/>
          </a:xfrm>
        </p:spPr>
        <p:txBody>
          <a:bodyPr/>
          <a:lstStyle/>
          <a:p>
            <a:endParaRPr lang="en-IN"/>
          </a:p>
        </p:txBody>
      </p:sp>
      <p:pic>
        <p:nvPicPr>
          <p:cNvPr id="5" name="Picture 4">
            <a:extLst>
              <a:ext uri="{FF2B5EF4-FFF2-40B4-BE49-F238E27FC236}">
                <a16:creationId xmlns:a16="http://schemas.microsoft.com/office/drawing/2014/main" id="{4DD84160-1607-F914-9B98-ACFBF97FB0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2097" y="3145134"/>
            <a:ext cx="7506118" cy="3712866"/>
          </a:xfrm>
          <a:prstGeom prst="rect">
            <a:avLst/>
          </a:prstGeom>
        </p:spPr>
      </p:pic>
    </p:spTree>
    <p:extLst>
      <p:ext uri="{BB962C8B-B14F-4D97-AF65-F5344CB8AC3E}">
        <p14:creationId xmlns:p14="http://schemas.microsoft.com/office/powerpoint/2010/main" val="3802099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4206A-3AA3-C0F3-0E80-5717DC772EFD}"/>
              </a:ext>
            </a:extLst>
          </p:cNvPr>
          <p:cNvSpPr>
            <a:spLocks noGrp="1"/>
          </p:cNvSpPr>
          <p:nvPr>
            <p:ph type="title"/>
          </p:nvPr>
        </p:nvSpPr>
        <p:spPr>
          <a:xfrm>
            <a:off x="4112483" y="3115093"/>
            <a:ext cx="3331765" cy="1947716"/>
          </a:xfrm>
        </p:spPr>
        <p:txBody>
          <a:bodyPr vert="horz" lIns="91440" tIns="45720" rIns="91440" bIns="45720" rtlCol="0" anchor="ctr">
            <a:noAutofit/>
          </a:bodyPr>
          <a:lstStyle/>
          <a:p>
            <a:r>
              <a:rPr lang="en-IN" sz="1200" b="1" dirty="0"/>
              <a:t>Name :</a:t>
            </a:r>
            <a:r>
              <a:rPr lang="en-IN" sz="1200" b="1" dirty="0">
                <a:solidFill>
                  <a:schemeClr val="bg1"/>
                </a:solidFill>
              </a:rPr>
              <a:t> Shaan Bellary</a:t>
            </a:r>
            <a:r>
              <a:rPr lang="en-IN" sz="1200" b="1" dirty="0"/>
              <a:t> </a:t>
            </a:r>
            <a:br>
              <a:rPr lang="en-IN" sz="1200" b="1" dirty="0"/>
            </a:br>
            <a:br>
              <a:rPr lang="en-IN" sz="1200" b="1" dirty="0"/>
            </a:br>
            <a:r>
              <a:rPr lang="en-IN" sz="1200" b="1" dirty="0"/>
              <a:t>skills</a:t>
            </a:r>
            <a:r>
              <a:rPr lang="en-IN" sz="1200" b="1" dirty="0">
                <a:solidFill>
                  <a:srgbClr val="FFFFFF"/>
                </a:solidFill>
              </a:rPr>
              <a:t> :</a:t>
            </a:r>
            <a:r>
              <a:rPr lang="en-IN" sz="1200" b="1" dirty="0">
                <a:solidFill>
                  <a:schemeClr val="bg1"/>
                </a:solidFill>
              </a:rPr>
              <a:t>  python, Django, java, Data         structure. Gen ai </a:t>
            </a:r>
            <a:br>
              <a:rPr lang="en-IN" sz="1200" b="1" dirty="0"/>
            </a:br>
            <a:br>
              <a:rPr lang="en-IN" sz="1200" b="1" dirty="0"/>
            </a:br>
            <a:r>
              <a:rPr lang="en-IN" sz="1200" b="1" dirty="0"/>
              <a:t>education</a:t>
            </a:r>
            <a:r>
              <a:rPr lang="en-IN" sz="1200" b="1" dirty="0">
                <a:solidFill>
                  <a:srgbClr val="FFFFFF"/>
                </a:solidFill>
              </a:rPr>
              <a:t> :</a:t>
            </a:r>
            <a:r>
              <a:rPr lang="en-IN" sz="1200" b="1" dirty="0">
                <a:solidFill>
                  <a:schemeClr val="bg1"/>
                </a:solidFill>
              </a:rPr>
              <a:t> BCA </a:t>
            </a:r>
            <a:br>
              <a:rPr lang="en-IN" sz="1200" b="1" dirty="0"/>
            </a:br>
            <a:br>
              <a:rPr lang="en-IN" sz="1200" b="1" dirty="0"/>
            </a:br>
            <a:r>
              <a:rPr lang="en-IN" sz="1200" b="1" dirty="0"/>
              <a:t>ACHIEVEMENTS </a:t>
            </a:r>
            <a:r>
              <a:rPr lang="en-IN" sz="1200" b="1" dirty="0">
                <a:solidFill>
                  <a:srgbClr val="FFFFFF"/>
                </a:solidFill>
              </a:rPr>
              <a:t>:  </a:t>
            </a:r>
            <a:r>
              <a:rPr lang="en-IN" sz="1200" b="1" dirty="0">
                <a:solidFill>
                  <a:schemeClr val="bg1"/>
                </a:solidFill>
              </a:rPr>
              <a:t>Winner – national level IT - Fest (Context fusion).</a:t>
            </a:r>
          </a:p>
        </p:txBody>
      </p:sp>
      <p:pic>
        <p:nvPicPr>
          <p:cNvPr id="7" name="Content Placeholder 6" descr="A person standing in front of a wall&#10;&#10;AI-generated content may be incorrect.">
            <a:extLst>
              <a:ext uri="{FF2B5EF4-FFF2-40B4-BE49-F238E27FC236}">
                <a16:creationId xmlns:a16="http://schemas.microsoft.com/office/drawing/2014/main" id="{4125F235-0FAD-284E-69CE-F6F792A19C99}"/>
              </a:ext>
            </a:extLst>
          </p:cNvPr>
          <p:cNvPicPr>
            <a:picLocks noGrp="1" noChangeAspect="1"/>
          </p:cNvPicPr>
          <p:nvPr>
            <p:ph idx="1"/>
          </p:nvPr>
        </p:nvPicPr>
        <p:blipFill>
          <a:blip r:embed="rId3"/>
          <a:stretch>
            <a:fillRect/>
          </a:stretch>
        </p:blipFill>
        <p:spPr>
          <a:xfrm>
            <a:off x="4111746" y="316619"/>
            <a:ext cx="3005586" cy="2794521"/>
          </a:xfrm>
          <a:prstGeom prst="rect">
            <a:avLst/>
          </a:prstGeom>
        </p:spPr>
      </p:pic>
      <p:pic>
        <p:nvPicPr>
          <p:cNvPr id="3" name="Picture 2" descr="A person in a blue jacket&#10;&#10;AI-generated content may be incorrect.">
            <a:extLst>
              <a:ext uri="{FF2B5EF4-FFF2-40B4-BE49-F238E27FC236}">
                <a16:creationId xmlns:a16="http://schemas.microsoft.com/office/drawing/2014/main" id="{CF2E2B8B-2AF0-EB21-87D5-CAC417E7E749}"/>
              </a:ext>
            </a:extLst>
          </p:cNvPr>
          <p:cNvPicPr>
            <a:picLocks noChangeAspect="1"/>
          </p:cNvPicPr>
          <p:nvPr/>
        </p:nvPicPr>
        <p:blipFill>
          <a:blip r:embed="rId4"/>
          <a:stretch>
            <a:fillRect/>
          </a:stretch>
        </p:blipFill>
        <p:spPr>
          <a:xfrm>
            <a:off x="165655" y="321847"/>
            <a:ext cx="3390601" cy="2800116"/>
          </a:xfrm>
          <a:prstGeom prst="rect">
            <a:avLst/>
          </a:prstGeom>
        </p:spPr>
      </p:pic>
      <p:sp>
        <p:nvSpPr>
          <p:cNvPr id="6" name="TextBox 5">
            <a:extLst>
              <a:ext uri="{FF2B5EF4-FFF2-40B4-BE49-F238E27FC236}">
                <a16:creationId xmlns:a16="http://schemas.microsoft.com/office/drawing/2014/main" id="{8C532658-3EED-D943-2E85-E09E6F557E1B}"/>
              </a:ext>
            </a:extLst>
          </p:cNvPr>
          <p:cNvSpPr txBox="1"/>
          <p:nvPr/>
        </p:nvSpPr>
        <p:spPr>
          <a:xfrm>
            <a:off x="162240" y="3320806"/>
            <a:ext cx="3370729" cy="1846659"/>
          </a:xfrm>
          <a:prstGeom prst="rect">
            <a:avLst/>
          </a:prstGeom>
          <a:noFill/>
          <a:ln>
            <a:no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solidFill>
                  <a:schemeClr val="tx1"/>
                </a:solidFill>
              </a:rPr>
              <a:t>NAME : </a:t>
            </a:r>
            <a:r>
              <a:rPr lang="en-US" sz="1200" b="1" dirty="0">
                <a:solidFill>
                  <a:schemeClr val="bg1"/>
                </a:solidFill>
              </a:rPr>
              <a:t>NAVEEN GALENNAVER</a:t>
            </a:r>
          </a:p>
          <a:p>
            <a:endParaRPr lang="en-US" sz="1200" b="1" dirty="0">
              <a:solidFill>
                <a:schemeClr val="tx1"/>
              </a:solidFill>
            </a:endParaRPr>
          </a:p>
          <a:p>
            <a:r>
              <a:rPr lang="en-US" sz="1200" b="1" dirty="0">
                <a:solidFill>
                  <a:schemeClr val="tx1"/>
                </a:solidFill>
              </a:rPr>
              <a:t>SKILLS : </a:t>
            </a:r>
            <a:r>
              <a:rPr lang="en-US" sz="1200" b="1" dirty="0">
                <a:solidFill>
                  <a:schemeClr val="bg1"/>
                </a:solidFill>
              </a:rPr>
              <a:t>MERN STACK WITH PYTHON , FLUTTER , DATA SCIENCE</a:t>
            </a:r>
          </a:p>
          <a:p>
            <a:endParaRPr lang="en-US" sz="1200" b="1" dirty="0">
              <a:solidFill>
                <a:schemeClr val="tx1"/>
              </a:solidFill>
            </a:endParaRPr>
          </a:p>
          <a:p>
            <a:r>
              <a:rPr lang="en-US" sz="1200" b="1" dirty="0">
                <a:solidFill>
                  <a:schemeClr val="tx1"/>
                </a:solidFill>
              </a:rPr>
              <a:t>EDUCATION : </a:t>
            </a:r>
            <a:r>
              <a:rPr lang="en-US" sz="1200" b="1" dirty="0">
                <a:solidFill>
                  <a:schemeClr val="bg1"/>
                </a:solidFill>
              </a:rPr>
              <a:t>BCA</a:t>
            </a:r>
          </a:p>
          <a:p>
            <a:endParaRPr lang="en-US" sz="1200" b="1" dirty="0">
              <a:solidFill>
                <a:schemeClr val="tx1"/>
              </a:solidFill>
            </a:endParaRPr>
          </a:p>
          <a:p>
            <a:r>
              <a:rPr lang="en-US" sz="1200" b="1" dirty="0">
                <a:solidFill>
                  <a:schemeClr val="tx1"/>
                </a:solidFill>
              </a:rPr>
              <a:t>PORTFOLIO :</a:t>
            </a:r>
            <a:r>
              <a:rPr lang="en-US" sz="1200" b="1" dirty="0">
                <a:solidFill>
                  <a:srgbClr val="00B050"/>
                </a:solidFill>
              </a:rPr>
              <a:t> </a:t>
            </a:r>
            <a:r>
              <a:rPr lang="en-US" sz="1500" b="1" dirty="0">
                <a:solidFill>
                  <a:srgbClr val="00B050"/>
                </a:solidFill>
              </a:rPr>
              <a:t>https://codinginkannada.vercel.app/</a:t>
            </a:r>
          </a:p>
        </p:txBody>
      </p:sp>
      <p:pic>
        <p:nvPicPr>
          <p:cNvPr id="8" name="Picture 7">
            <a:extLst>
              <a:ext uri="{FF2B5EF4-FFF2-40B4-BE49-F238E27FC236}">
                <a16:creationId xmlns:a16="http://schemas.microsoft.com/office/drawing/2014/main" id="{5152CB8C-5FA0-EF43-8EE6-84B0D41BBE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97522" y="316619"/>
            <a:ext cx="3954292" cy="2637596"/>
          </a:xfrm>
          <a:prstGeom prst="rect">
            <a:avLst/>
          </a:prstGeom>
        </p:spPr>
      </p:pic>
      <p:sp>
        <p:nvSpPr>
          <p:cNvPr id="10" name="TextBox 9">
            <a:extLst>
              <a:ext uri="{FF2B5EF4-FFF2-40B4-BE49-F238E27FC236}">
                <a16:creationId xmlns:a16="http://schemas.microsoft.com/office/drawing/2014/main" id="{5EA0B866-DEB7-B1BA-5EF1-FFCBCDB062ED}"/>
              </a:ext>
            </a:extLst>
          </p:cNvPr>
          <p:cNvSpPr txBox="1"/>
          <p:nvPr/>
        </p:nvSpPr>
        <p:spPr>
          <a:xfrm>
            <a:off x="7591796" y="3136861"/>
            <a:ext cx="4160018" cy="1846659"/>
          </a:xfrm>
          <a:prstGeom prst="rect">
            <a:avLst/>
          </a:prstGeom>
          <a:noFill/>
        </p:spPr>
        <p:txBody>
          <a:bodyPr wrap="square">
            <a:spAutoFit/>
          </a:bodyPr>
          <a:lstStyle/>
          <a:p>
            <a:r>
              <a:rPr lang="en-IN" sz="1200" b="1" dirty="0"/>
              <a:t>Name</a:t>
            </a:r>
            <a:r>
              <a:rPr lang="en-IN" sz="1200" b="1" dirty="0">
                <a:solidFill>
                  <a:schemeClr val="bg1"/>
                </a:solidFill>
              </a:rPr>
              <a:t>: Gourav P Niranjan</a:t>
            </a:r>
          </a:p>
          <a:p>
            <a:endParaRPr lang="en-IN" sz="1200" b="1" dirty="0"/>
          </a:p>
          <a:p>
            <a:r>
              <a:rPr lang="en-IN" sz="1200" b="1" dirty="0"/>
              <a:t> </a:t>
            </a:r>
            <a:r>
              <a:rPr lang="en-IN" sz="1200" b="1" dirty="0" err="1"/>
              <a:t>Skills:</a:t>
            </a:r>
            <a:r>
              <a:rPr lang="en-IN" sz="1200" b="1" dirty="0" err="1">
                <a:solidFill>
                  <a:schemeClr val="bg1"/>
                </a:solidFill>
              </a:rPr>
              <a:t>JavaSpring</a:t>
            </a:r>
            <a:r>
              <a:rPr lang="en-IN" sz="1200" b="1" dirty="0">
                <a:solidFill>
                  <a:schemeClr val="bg1"/>
                </a:solidFill>
              </a:rPr>
              <a:t> Boot REST API Development , data science</a:t>
            </a:r>
          </a:p>
          <a:p>
            <a:endParaRPr lang="en-IN" sz="1200" b="1" dirty="0">
              <a:solidFill>
                <a:schemeClr val="bg1"/>
              </a:solidFill>
            </a:endParaRPr>
          </a:p>
          <a:p>
            <a:r>
              <a:rPr lang="en-IN" sz="1200" b="1" dirty="0"/>
              <a:t>Education</a:t>
            </a:r>
            <a:r>
              <a:rPr lang="en-IN" sz="1200" b="1" dirty="0">
                <a:solidFill>
                  <a:schemeClr val="bg1"/>
                </a:solidFill>
              </a:rPr>
              <a:t>: BCA</a:t>
            </a:r>
          </a:p>
          <a:p>
            <a:endParaRPr lang="en-IN" sz="1200" b="1" dirty="0"/>
          </a:p>
          <a:p>
            <a:r>
              <a:rPr lang="en-IN" sz="1200" b="1" dirty="0"/>
              <a:t>Achievements</a:t>
            </a:r>
            <a:r>
              <a:rPr lang="en-IN" sz="1200" b="1" dirty="0">
                <a:solidFill>
                  <a:schemeClr val="bg1"/>
                </a:solidFill>
              </a:rPr>
              <a:t>: Winner - Ciphers Oracle (Spectrum) 2025</a:t>
            </a:r>
            <a:r>
              <a:rPr lang="en-IN" b="1" dirty="0">
                <a:solidFill>
                  <a:schemeClr val="bg1"/>
                </a:solidFill>
              </a:rPr>
              <a:t>.</a:t>
            </a:r>
          </a:p>
        </p:txBody>
      </p:sp>
    </p:spTree>
    <p:extLst>
      <p:ext uri="{BB962C8B-B14F-4D97-AF65-F5344CB8AC3E}">
        <p14:creationId xmlns:p14="http://schemas.microsoft.com/office/powerpoint/2010/main" val="706564691"/>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01B69AE-013E-9E7D-57BA-EC0A957EF62B}"/>
              </a:ext>
            </a:extLst>
          </p:cNvPr>
          <p:cNvSpPr>
            <a:spLocks noGrp="1"/>
          </p:cNvSpPr>
          <p:nvPr>
            <p:ph type="title"/>
          </p:nvPr>
        </p:nvSpPr>
        <p:spPr>
          <a:xfrm>
            <a:off x="3496827" y="452176"/>
            <a:ext cx="8816677" cy="2451798"/>
          </a:xfrm>
        </p:spPr>
        <p:txBody>
          <a:bodyPr>
            <a:noAutofit/>
          </a:bodyPr>
          <a:lstStyle/>
          <a:p>
            <a:r>
              <a:rPr lang="en-US" sz="2000" b="1">
                <a:solidFill>
                  <a:schemeClr val="bg1"/>
                </a:solidFill>
              </a:rPr>
              <a:t>Problem Statement:</a:t>
            </a:r>
            <a:br>
              <a:rPr lang="en-US" sz="2000" b="1">
                <a:solidFill>
                  <a:schemeClr val="bg1"/>
                </a:solidFill>
              </a:rPr>
            </a:br>
            <a:br>
              <a:rPr lang="en-US" sz="1600" b="1">
                <a:solidFill>
                  <a:schemeClr val="bg1"/>
                </a:solidFill>
              </a:rPr>
            </a:br>
            <a:r>
              <a:rPr lang="en-US" sz="1600"/>
              <a:t>In emergency and critical health situations, people often waste valuable time searching for nearby hospitals, medical stores and Medison's, or ambulance services. This problem is more severe in rural areas where healthcare access is limited and information is unclear. The lack of a unified healthcare platform leads to delays, confusion, and increased health risks</a:t>
            </a:r>
            <a:br>
              <a:rPr lang="en-US" sz="1600"/>
            </a:br>
            <a:r>
              <a:rPr lang="en-US" sz="1800">
                <a:solidFill>
                  <a:schemeClr val="bg1"/>
                </a:solidFill>
              </a:rPr>
              <a:t>in rural areas same people don’t have smart phone this problem in rural so </a:t>
            </a:r>
            <a:br>
              <a:rPr lang="en-US" sz="1800">
                <a:solidFill>
                  <a:schemeClr val="bg1"/>
                </a:solidFill>
              </a:rPr>
            </a:br>
            <a:r>
              <a:rPr lang="en-US" sz="1800">
                <a:solidFill>
                  <a:schemeClr val="bg1"/>
                </a:solidFill>
              </a:rPr>
              <a:t>this software solve this mention user problem and solution page </a:t>
            </a:r>
            <a:br>
              <a:rPr lang="en-IN" sz="1600" b="1">
                <a:solidFill>
                  <a:schemeClr val="bg1"/>
                </a:solidFill>
              </a:rPr>
            </a:br>
            <a:endParaRPr lang="en-IN" sz="1600">
              <a:solidFill>
                <a:schemeClr val="bg1"/>
              </a:solidFill>
            </a:endParaRPr>
          </a:p>
        </p:txBody>
      </p:sp>
      <p:pic>
        <p:nvPicPr>
          <p:cNvPr id="3" name="Content Placeholder 2">
            <a:extLst>
              <a:ext uri="{FF2B5EF4-FFF2-40B4-BE49-F238E27FC236}">
                <a16:creationId xmlns:a16="http://schemas.microsoft.com/office/drawing/2014/main" id="{45947A6F-B346-A6E9-AF84-0689CF66EF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0"/>
            <a:ext cx="3496826" cy="6652009"/>
          </a:xfrm>
          <a:prstGeom prst="rect">
            <a:avLst/>
          </a:prstGeom>
        </p:spPr>
      </p:pic>
      <p:sp>
        <p:nvSpPr>
          <p:cNvPr id="6" name="Text Placeholder 5">
            <a:extLst>
              <a:ext uri="{FF2B5EF4-FFF2-40B4-BE49-F238E27FC236}">
                <a16:creationId xmlns:a16="http://schemas.microsoft.com/office/drawing/2014/main" id="{25267E32-C915-8228-36FD-C9B167111E29}"/>
              </a:ext>
            </a:extLst>
          </p:cNvPr>
          <p:cNvSpPr>
            <a:spLocks noGrp="1"/>
          </p:cNvSpPr>
          <p:nvPr>
            <p:ph type="body" sz="half" idx="2"/>
          </p:nvPr>
        </p:nvSpPr>
        <p:spPr>
          <a:xfrm>
            <a:off x="3557578" y="2695469"/>
            <a:ext cx="8695174" cy="2529674"/>
          </a:xfrm>
        </p:spPr>
        <p:txBody>
          <a:bodyPr>
            <a:normAutofit fontScale="25000" lnSpcReduction="20000"/>
          </a:bodyPr>
          <a:lstStyle/>
          <a:p>
            <a:endParaRPr lang="en-US" sz="8000" b="1">
              <a:solidFill>
                <a:schemeClr val="bg1"/>
              </a:solidFill>
            </a:endParaRPr>
          </a:p>
          <a:p>
            <a:r>
              <a:rPr lang="en-US" sz="8000" b="1">
                <a:solidFill>
                  <a:schemeClr val="bg1"/>
                </a:solidFill>
              </a:rPr>
              <a:t>Solution – Lifeline AI</a:t>
            </a:r>
          </a:p>
          <a:p>
            <a:r>
              <a:rPr lang="en-US" sz="6400" b="1">
                <a:solidFill>
                  <a:schemeClr val="tx1"/>
                </a:solidFill>
              </a:rPr>
              <a:t>Lifeline AI</a:t>
            </a:r>
            <a:r>
              <a:rPr lang="en-US" sz="6400">
                <a:solidFill>
                  <a:schemeClr val="tx1"/>
                </a:solidFill>
              </a:rPr>
              <a:t> is a unified healthcare platform that helps users quickly find nearby hospitals, medical stores, doctors, and emergency services based on their location. The platform integrates </a:t>
            </a:r>
            <a:r>
              <a:rPr lang="en-US" sz="6400" b="1">
                <a:solidFill>
                  <a:schemeClr val="tx1"/>
                </a:solidFill>
              </a:rPr>
              <a:t>AI-powered health guidance, emergency response support, and real-time navigation</a:t>
            </a:r>
            <a:r>
              <a:rPr lang="en-US" sz="6400">
                <a:solidFill>
                  <a:schemeClr val="tx1"/>
                </a:solidFill>
              </a:rPr>
              <a:t> in one simple interface.</a:t>
            </a:r>
          </a:p>
          <a:p>
            <a:r>
              <a:rPr lang="en-US" sz="6400">
                <a:solidFill>
                  <a:schemeClr val="tx1"/>
                </a:solidFill>
              </a:rPr>
              <a:t>Users can enter their health problem and receive </a:t>
            </a:r>
            <a:r>
              <a:rPr lang="en-US" sz="6400" b="1">
                <a:solidFill>
                  <a:schemeClr val="tx1"/>
                </a:solidFill>
              </a:rPr>
              <a:t>AI-based guidance, nearby doctor suggestions, and pharmacy availability</a:t>
            </a:r>
            <a:r>
              <a:rPr lang="en-US" sz="6400">
                <a:solidFill>
                  <a:schemeClr val="tx1"/>
                </a:solidFill>
              </a:rPr>
              <a:t>. In emergency situations, the system can </a:t>
            </a:r>
            <a:r>
              <a:rPr lang="en-US" sz="6400" b="1">
                <a:solidFill>
                  <a:schemeClr val="tx1"/>
                </a:solidFill>
              </a:rPr>
              <a:t>suggest calling 108, connect to nearby ambulances, and provide the fastest route to hospitals</a:t>
            </a:r>
            <a:r>
              <a:rPr lang="en-US" sz="6400">
                <a:solidFill>
                  <a:schemeClr val="tx1"/>
                </a:solidFill>
              </a:rPr>
              <a:t>.</a:t>
            </a:r>
          </a:p>
          <a:p>
            <a:r>
              <a:rPr lang="en-US" sz="6400">
                <a:solidFill>
                  <a:schemeClr val="tx1"/>
                </a:solidFill>
              </a:rPr>
              <a:t>For rural users who do not have smartphones, Lifeline AI provides a </a:t>
            </a:r>
            <a:r>
              <a:rPr lang="en-US" sz="6400" b="1">
                <a:solidFill>
                  <a:schemeClr val="tx1"/>
                </a:solidFill>
              </a:rPr>
              <a:t>helpline number with an AI voice assistant</a:t>
            </a:r>
            <a:r>
              <a:rPr lang="en-US" sz="6400">
                <a:solidFill>
                  <a:schemeClr val="tx1"/>
                </a:solidFill>
              </a:rPr>
              <a:t> that guides users through simple voice options and connects them to medical help.</a:t>
            </a:r>
          </a:p>
          <a:p>
            <a:r>
              <a:rPr lang="en-US" sz="6400">
                <a:solidFill>
                  <a:schemeClr val="tx1"/>
                </a:solidFill>
              </a:rPr>
              <a:t>The system also includes a </a:t>
            </a:r>
            <a:r>
              <a:rPr lang="en-US" sz="6400" b="1">
                <a:solidFill>
                  <a:schemeClr val="tx1"/>
                </a:solidFill>
              </a:rPr>
              <a:t>chatbot for health questions, monitoring features for stress and health risks, and smart alerts to guide users during emergencies</a:t>
            </a:r>
            <a:r>
              <a:rPr lang="en-US" sz="6400">
                <a:solidFill>
                  <a:schemeClr val="tx1"/>
                </a:solidFill>
              </a:rPr>
              <a:t>, creating an accessible healthcare support system for both urban and rural communities.</a:t>
            </a:r>
          </a:p>
          <a:p>
            <a:endParaRPr lang="en-IN"/>
          </a:p>
        </p:txBody>
      </p:sp>
    </p:spTree>
    <p:extLst>
      <p:ext uri="{BB962C8B-B14F-4D97-AF65-F5344CB8AC3E}">
        <p14:creationId xmlns:p14="http://schemas.microsoft.com/office/powerpoint/2010/main" val="3979377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13FD5FB-85EF-10BB-618B-5AA6ADE4BD8F}"/>
              </a:ext>
            </a:extLst>
          </p:cNvPr>
          <p:cNvSpPr txBox="1"/>
          <p:nvPr/>
        </p:nvSpPr>
        <p:spPr>
          <a:xfrm>
            <a:off x="3727938" y="0"/>
            <a:ext cx="8541098" cy="6848029"/>
          </a:xfrm>
          <a:prstGeom prst="rect">
            <a:avLst/>
          </a:prstGeom>
          <a:noFill/>
        </p:spPr>
        <p:txBody>
          <a:bodyPr wrap="square">
            <a:spAutoFit/>
          </a:bodyPr>
          <a:lstStyle/>
          <a:p>
            <a:r>
              <a:rPr lang="en-US" sz="2500" b="1">
                <a:solidFill>
                  <a:schemeClr val="bg1"/>
                </a:solidFill>
              </a:rPr>
              <a:t>How It Works</a:t>
            </a:r>
          </a:p>
          <a:p>
            <a:endParaRPr lang="en-US" b="1"/>
          </a:p>
          <a:p>
            <a:r>
              <a:rPr lang="en-US"/>
              <a:t>User opens </a:t>
            </a:r>
            <a:r>
              <a:rPr lang="en-US" b="1"/>
              <a:t>Lifeline AI</a:t>
            </a:r>
            <a:r>
              <a:rPr lang="en-US"/>
              <a:t> (web or app).</a:t>
            </a:r>
          </a:p>
          <a:p>
            <a:endParaRPr lang="en-US"/>
          </a:p>
          <a:p>
            <a:r>
              <a:rPr lang="en-US"/>
              <a:t>The system </a:t>
            </a:r>
            <a:r>
              <a:rPr lang="en-US" b="1"/>
              <a:t>detects the user’s location</a:t>
            </a:r>
            <a:r>
              <a:rPr lang="en-US"/>
              <a:t> (urban or rural).</a:t>
            </a:r>
          </a:p>
          <a:p>
            <a:endParaRPr lang="en-US"/>
          </a:p>
          <a:p>
            <a:r>
              <a:rPr lang="en-US"/>
              <a:t>User can </a:t>
            </a:r>
            <a:r>
              <a:rPr lang="en-US" b="1"/>
              <a:t>search for hospitals, doctors, pharmacies, or ambulance services</a:t>
            </a:r>
            <a:r>
              <a:rPr lang="en-US"/>
              <a:t>.</a:t>
            </a:r>
          </a:p>
          <a:p>
            <a:endParaRPr lang="en-US"/>
          </a:p>
          <a:p>
            <a:r>
              <a:rPr lang="en-US"/>
              <a:t>The platform shows </a:t>
            </a:r>
            <a:r>
              <a:rPr lang="en-US" b="1"/>
              <a:t>nearby hospitals, medical stores, doctors, and emergency contacts</a:t>
            </a:r>
            <a:r>
              <a:rPr lang="en-US"/>
              <a:t>.</a:t>
            </a:r>
          </a:p>
          <a:p>
            <a:endParaRPr lang="en-US"/>
          </a:p>
          <a:p>
            <a:r>
              <a:rPr lang="en-US"/>
              <a:t>User can </a:t>
            </a:r>
            <a:r>
              <a:rPr lang="en-US" b="1"/>
              <a:t>order medicines or check pharmacy availability</a:t>
            </a:r>
            <a:r>
              <a:rPr lang="en-US"/>
              <a:t>.</a:t>
            </a:r>
          </a:p>
          <a:p>
            <a:endParaRPr lang="en-US"/>
          </a:p>
          <a:p>
            <a:r>
              <a:rPr lang="en-US"/>
              <a:t>In emergencies, user can </a:t>
            </a:r>
            <a:r>
              <a:rPr lang="en-US" b="1"/>
              <a:t>activate Emergency Mode for the fastest route and quick ambulance connection</a:t>
            </a:r>
            <a:r>
              <a:rPr lang="en-US"/>
              <a:t>.</a:t>
            </a:r>
          </a:p>
          <a:p>
            <a:endParaRPr lang="en-US"/>
          </a:p>
          <a:p>
            <a:r>
              <a:rPr lang="en-US"/>
              <a:t>The </a:t>
            </a:r>
            <a:r>
              <a:rPr lang="en-US" b="1"/>
              <a:t>AI assistant gives basic health guidance and answers health questions</a:t>
            </a:r>
            <a:r>
              <a:rPr lang="en-US"/>
              <a:t>.</a:t>
            </a:r>
          </a:p>
          <a:p>
            <a:r>
              <a:rPr lang="en-US"/>
              <a:t>If the user has </a:t>
            </a:r>
            <a:r>
              <a:rPr lang="en-US" b="1"/>
              <a:t>no smartphone (rural users)</a:t>
            </a:r>
            <a:r>
              <a:rPr lang="en-US"/>
              <a:t>, they can </a:t>
            </a:r>
            <a:r>
              <a:rPr lang="en-US" b="1"/>
              <a:t>call a helpline number</a:t>
            </a:r>
            <a:r>
              <a:rPr lang="en-US"/>
              <a:t> and an </a:t>
            </a:r>
            <a:r>
              <a:rPr lang="en-US" b="1"/>
              <a:t>AI voice assistant guides them (Press 1 for doctor, Press 2 for ambulance, Press 3 for pharmacy)</a:t>
            </a:r>
            <a:r>
              <a:rPr lang="en-US"/>
              <a:t>.</a:t>
            </a:r>
          </a:p>
          <a:p>
            <a:endParaRPr lang="en-US"/>
          </a:p>
          <a:p>
            <a:r>
              <a:rPr lang="en-US"/>
              <a:t>The system can also </a:t>
            </a:r>
            <a:r>
              <a:rPr lang="en-US" b="1"/>
              <a:t>monitor user stress, sleep, and health trends and warn about possible risks early</a:t>
            </a:r>
            <a:r>
              <a:rPr lang="en-US"/>
              <a:t>.</a:t>
            </a:r>
          </a:p>
          <a:p>
            <a:pPr>
              <a:buNone/>
            </a:pPr>
            <a:endParaRPr lang="en-US"/>
          </a:p>
        </p:txBody>
      </p:sp>
      <p:pic>
        <p:nvPicPr>
          <p:cNvPr id="12" name="Picture 11">
            <a:extLst>
              <a:ext uri="{FF2B5EF4-FFF2-40B4-BE49-F238E27FC236}">
                <a16:creationId xmlns:a16="http://schemas.microsoft.com/office/drawing/2014/main" id="{C8AA2E95-E883-B05B-C554-6E7D79A6C7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3727939" cy="6857999"/>
          </a:xfrm>
          <a:prstGeom prst="rect">
            <a:avLst/>
          </a:prstGeom>
        </p:spPr>
      </p:pic>
    </p:spTree>
    <p:extLst>
      <p:ext uri="{BB962C8B-B14F-4D97-AF65-F5344CB8AC3E}">
        <p14:creationId xmlns:p14="http://schemas.microsoft.com/office/powerpoint/2010/main" val="166400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BBA9FD-BB25-7E7F-6F22-CC5CDBC1E27D}"/>
              </a:ext>
            </a:extLst>
          </p:cNvPr>
          <p:cNvSpPr txBox="1"/>
          <p:nvPr/>
        </p:nvSpPr>
        <p:spPr>
          <a:xfrm>
            <a:off x="3215472" y="112707"/>
            <a:ext cx="9355015" cy="6632585"/>
          </a:xfrm>
          <a:prstGeom prst="rect">
            <a:avLst/>
          </a:prstGeom>
          <a:noFill/>
        </p:spPr>
        <p:txBody>
          <a:bodyPr wrap="square">
            <a:spAutoFit/>
          </a:bodyPr>
          <a:lstStyle/>
          <a:p>
            <a:pPr>
              <a:buNone/>
            </a:pPr>
            <a:r>
              <a:rPr lang="en-US" sz="2500" b="1">
                <a:solidFill>
                  <a:schemeClr val="bg1"/>
                </a:solidFill>
              </a:rPr>
              <a:t>Impact</a:t>
            </a:r>
          </a:p>
          <a:p>
            <a:pPr>
              <a:buNone/>
            </a:pPr>
            <a:endParaRPr lang="en-US" sz="2000" b="1">
              <a:solidFill>
                <a:schemeClr val="bg1"/>
              </a:solidFill>
            </a:endParaRPr>
          </a:p>
          <a:p>
            <a:pPr>
              <a:buFont typeface="Arial" panose="020B0604020202020204" pitchFamily="34" charset="0"/>
              <a:buChar char="•"/>
            </a:pPr>
            <a:r>
              <a:rPr lang="en-US" sz="2000" b="1"/>
              <a:t>Reduces emergency response time.</a:t>
            </a:r>
          </a:p>
          <a:p>
            <a:pPr>
              <a:buFont typeface="Arial" panose="020B0604020202020204" pitchFamily="34" charset="0"/>
              <a:buChar char="•"/>
            </a:pPr>
            <a:endParaRPr lang="en-US" sz="2000"/>
          </a:p>
          <a:p>
            <a:pPr>
              <a:buFont typeface="Arial" panose="020B0604020202020204" pitchFamily="34" charset="0"/>
              <a:buChar char="•"/>
            </a:pPr>
            <a:r>
              <a:rPr lang="en-US" sz="2000" b="1"/>
              <a:t>Improves healthcare access in both rural and urban areas.</a:t>
            </a:r>
          </a:p>
          <a:p>
            <a:pPr>
              <a:buFont typeface="Arial" panose="020B0604020202020204" pitchFamily="34" charset="0"/>
              <a:buChar char="•"/>
            </a:pPr>
            <a:endParaRPr lang="en-US" sz="2000"/>
          </a:p>
          <a:p>
            <a:pPr>
              <a:buFont typeface="Arial" panose="020B0604020202020204" pitchFamily="34" charset="0"/>
              <a:buChar char="•"/>
            </a:pPr>
            <a:r>
              <a:rPr lang="en-US" sz="2000" b="1"/>
              <a:t>Helps users quickly find doctors, pharmacies, and ambulance services.</a:t>
            </a:r>
          </a:p>
          <a:p>
            <a:pPr>
              <a:buFont typeface="Arial" panose="020B0604020202020204" pitchFamily="34" charset="0"/>
              <a:buChar char="•"/>
            </a:pPr>
            <a:endParaRPr lang="en-US" sz="2000"/>
          </a:p>
          <a:p>
            <a:pPr>
              <a:buFont typeface="Arial" panose="020B0604020202020204" pitchFamily="34" charset="0"/>
              <a:buChar char="•"/>
            </a:pPr>
            <a:r>
              <a:rPr lang="en-US" sz="2000" b="1"/>
              <a:t>Supports people without smartphones through a voice helpline system.</a:t>
            </a:r>
          </a:p>
          <a:p>
            <a:pPr>
              <a:buFont typeface="Arial" panose="020B0604020202020204" pitchFamily="34" charset="0"/>
              <a:buChar char="•"/>
            </a:pPr>
            <a:endParaRPr lang="en-US" sz="2000"/>
          </a:p>
          <a:p>
            <a:pPr>
              <a:buFont typeface="Arial" panose="020B0604020202020204" pitchFamily="34" charset="0"/>
              <a:buChar char="•"/>
            </a:pPr>
            <a:r>
              <a:rPr lang="en-US" sz="2000" b="1"/>
              <a:t>Minimizes confusion during critical medical situations.</a:t>
            </a:r>
          </a:p>
          <a:p>
            <a:pPr>
              <a:buFont typeface="Arial" panose="020B0604020202020204" pitchFamily="34" charset="0"/>
              <a:buChar char="•"/>
            </a:pPr>
            <a:endParaRPr lang="en-US" sz="2000"/>
          </a:p>
          <a:p>
            <a:pPr>
              <a:buFont typeface="Arial" panose="020B0604020202020204" pitchFamily="34" charset="0"/>
              <a:buChar char="•"/>
            </a:pPr>
            <a:r>
              <a:rPr lang="en-US" sz="2000" b="1"/>
              <a:t>Provides AI-based health guidance and early health risk alerts.</a:t>
            </a:r>
          </a:p>
          <a:p>
            <a:pPr>
              <a:buFont typeface="Arial" panose="020B0604020202020204" pitchFamily="34" charset="0"/>
              <a:buChar char="•"/>
            </a:pPr>
            <a:endParaRPr lang="en-US" sz="2000"/>
          </a:p>
          <a:p>
            <a:pPr>
              <a:buFont typeface="Arial" panose="020B0604020202020204" pitchFamily="34" charset="0"/>
              <a:buChar char="•"/>
            </a:pPr>
            <a:r>
              <a:rPr lang="en-US" sz="2000" b="1"/>
              <a:t>Centralizes healthcare services into one easy-to-use platform.</a:t>
            </a:r>
          </a:p>
          <a:p>
            <a:pPr>
              <a:buFont typeface="Arial" panose="020B0604020202020204" pitchFamily="34" charset="0"/>
              <a:buChar char="•"/>
            </a:pPr>
            <a:endParaRPr lang="en-US" sz="2000"/>
          </a:p>
          <a:p>
            <a:pPr>
              <a:buFont typeface="Arial" panose="020B0604020202020204" pitchFamily="34" charset="0"/>
              <a:buChar char="•"/>
            </a:pPr>
            <a:r>
              <a:rPr lang="en-US" sz="2000" b="1"/>
              <a:t>Can grow into a startup platform for emergency healthcare services.</a:t>
            </a:r>
          </a:p>
          <a:p>
            <a:pPr>
              <a:buFont typeface="Arial" panose="020B0604020202020204" pitchFamily="34" charset="0"/>
              <a:buChar char="•"/>
            </a:pPr>
            <a:endParaRPr lang="en-US" sz="2000"/>
          </a:p>
          <a:p>
            <a:pPr>
              <a:buFont typeface="Arial" panose="020B0604020202020204" pitchFamily="34" charset="0"/>
              <a:buChar char="•"/>
            </a:pPr>
            <a:r>
              <a:rPr lang="en-US" sz="2000" b="1"/>
              <a:t>Helps users order medicines and get medical help faster.</a:t>
            </a:r>
          </a:p>
          <a:p>
            <a:pPr>
              <a:buFont typeface="Arial" panose="020B0604020202020204" pitchFamily="34" charset="0"/>
              <a:buChar char="•"/>
            </a:pPr>
            <a:endParaRPr lang="en-US" sz="2000"/>
          </a:p>
          <a:p>
            <a:pPr>
              <a:buFont typeface="Arial" panose="020B0604020202020204" pitchFamily="34" charset="0"/>
              <a:buChar char="•"/>
            </a:pPr>
            <a:r>
              <a:rPr lang="en-US" sz="2000" b="1"/>
              <a:t>Potentially saves lives by reducing delays in emergencies</a:t>
            </a:r>
            <a:r>
              <a:rPr lang="en-US" b="1"/>
              <a:t>.</a:t>
            </a:r>
            <a:endParaRPr lang="en-US"/>
          </a:p>
        </p:txBody>
      </p:sp>
    </p:spTree>
    <p:extLst>
      <p:ext uri="{BB962C8B-B14F-4D97-AF65-F5344CB8AC3E}">
        <p14:creationId xmlns:p14="http://schemas.microsoft.com/office/powerpoint/2010/main" val="1951078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940DF7-5C13-3FA8-A43C-D1C068CC1FDA}"/>
              </a:ext>
            </a:extLst>
          </p:cNvPr>
          <p:cNvSpPr txBox="1"/>
          <p:nvPr/>
        </p:nvSpPr>
        <p:spPr>
          <a:xfrm>
            <a:off x="0" y="0"/>
            <a:ext cx="12192001" cy="7232749"/>
          </a:xfrm>
          <a:prstGeom prst="rect">
            <a:avLst/>
          </a:prstGeom>
          <a:noFill/>
        </p:spPr>
        <p:txBody>
          <a:bodyPr wrap="square">
            <a:spAutoFit/>
          </a:bodyPr>
          <a:lstStyle/>
          <a:p>
            <a:pPr>
              <a:buNone/>
            </a:pPr>
            <a:r>
              <a:rPr lang="en-US" sz="2000" b="1">
                <a:solidFill>
                  <a:schemeClr val="bg1"/>
                </a:solidFill>
              </a:rPr>
              <a:t>Project Details (Simple Points)</a:t>
            </a:r>
          </a:p>
          <a:p>
            <a:pPr>
              <a:buNone/>
            </a:pPr>
            <a:endParaRPr lang="en-US" sz="2000" b="1">
              <a:solidFill>
                <a:schemeClr val="bg1"/>
              </a:solidFill>
            </a:endParaRPr>
          </a:p>
          <a:p>
            <a:r>
              <a:rPr lang="en-US" sz="2500" b="1">
                <a:solidFill>
                  <a:schemeClr val="bg1"/>
                </a:solidFill>
              </a:rPr>
              <a:t>Problem</a:t>
            </a:r>
          </a:p>
          <a:p>
            <a:r>
              <a:rPr lang="en-US" sz="2000"/>
              <a:t>In emergency situations, people may need medical help at any time (day or midnight).</a:t>
            </a:r>
          </a:p>
          <a:p>
            <a:endParaRPr lang="en-US" sz="2000"/>
          </a:p>
          <a:p>
            <a:r>
              <a:rPr lang="en-US" sz="2000"/>
              <a:t>Sometimes doctors or pharmacies are not available nearby, especially at night.</a:t>
            </a:r>
          </a:p>
          <a:p>
            <a:endParaRPr lang="en-US" sz="2000"/>
          </a:p>
          <a:p>
            <a:r>
              <a:rPr lang="en-US" sz="2000"/>
              <a:t>Rural areas often have limited medical facilities and many people do not have smartphones to access digital healthcare services.</a:t>
            </a:r>
          </a:p>
          <a:p>
            <a:endParaRPr lang="en-US" sz="2000"/>
          </a:p>
          <a:p>
            <a:r>
              <a:rPr lang="en-US" sz="2000"/>
              <a:t>People waste valuable time searching for hospitals, doctors, pharmacies, or ambulance services during emergencies.</a:t>
            </a:r>
          </a:p>
          <a:p>
            <a:endParaRPr lang="en-US" sz="2000"/>
          </a:p>
          <a:p>
            <a:r>
              <a:rPr lang="en-US" sz="2000"/>
              <a:t>Ambulance drivers sometimes struggle to find the fastest route because of traffic, damaged roads, or poor navigation guidance.</a:t>
            </a:r>
          </a:p>
          <a:p>
            <a:endParaRPr lang="en-US" sz="2000"/>
          </a:p>
          <a:p>
            <a:r>
              <a:rPr lang="en-US" sz="2000"/>
              <a:t>In cities, users also face difficulty finding nearby pharmacies with available medicines quickly.</a:t>
            </a:r>
          </a:p>
          <a:p>
            <a:r>
              <a:rPr lang="en-US" sz="2000"/>
              <a:t>Many people realize health problems like stress, fatigue, or burnout too late because there is no early monitoring system.</a:t>
            </a:r>
          </a:p>
          <a:p>
            <a:endParaRPr lang="en-US" sz="2000"/>
          </a:p>
          <a:p>
            <a:r>
              <a:rPr lang="en-US" sz="2000"/>
              <a:t>Due to lack of a unified platform, patients cannot quickly connect with doctors, pharmacies, and ambulance services when needed.</a:t>
            </a:r>
          </a:p>
          <a:p>
            <a:pPr>
              <a:buFont typeface="Arial" panose="020B0604020202020204" pitchFamily="34" charset="0"/>
              <a:buChar char="•"/>
            </a:pPr>
            <a:endParaRPr lang="en-US" sz="1900"/>
          </a:p>
        </p:txBody>
      </p:sp>
    </p:spTree>
    <p:extLst>
      <p:ext uri="{BB962C8B-B14F-4D97-AF65-F5344CB8AC3E}">
        <p14:creationId xmlns:p14="http://schemas.microsoft.com/office/powerpoint/2010/main" val="1190953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CF01BE-BEA0-3FC1-532E-0FC58A52ABD0}"/>
              </a:ext>
            </a:extLst>
          </p:cNvPr>
          <p:cNvSpPr txBox="1"/>
          <p:nvPr/>
        </p:nvSpPr>
        <p:spPr>
          <a:xfrm>
            <a:off x="1165609" y="0"/>
            <a:ext cx="11026391" cy="7017306"/>
          </a:xfrm>
          <a:prstGeom prst="rect">
            <a:avLst/>
          </a:prstGeom>
          <a:noFill/>
        </p:spPr>
        <p:txBody>
          <a:bodyPr wrap="square">
            <a:spAutoFit/>
          </a:bodyPr>
          <a:lstStyle/>
          <a:p>
            <a:pPr>
              <a:buNone/>
            </a:pPr>
            <a:r>
              <a:rPr lang="en-US" sz="2000" b="1">
                <a:solidFill>
                  <a:schemeClr val="bg1"/>
                </a:solidFill>
              </a:rPr>
              <a:t>User Persona Mindset:</a:t>
            </a:r>
          </a:p>
          <a:p>
            <a:pPr>
              <a:buNone/>
            </a:pPr>
            <a:r>
              <a:rPr lang="en-US" b="1"/>
              <a:t>1. </a:t>
            </a:r>
            <a:r>
              <a:rPr lang="en-US" b="1">
                <a:solidFill>
                  <a:schemeClr val="bg1"/>
                </a:solidFill>
              </a:rPr>
              <a:t>Rural Resident</a:t>
            </a:r>
            <a:endParaRPr lang="en-US">
              <a:solidFill>
                <a:schemeClr val="bg1"/>
              </a:solidFill>
            </a:endParaRPr>
          </a:p>
          <a:p>
            <a:pPr>
              <a:buFont typeface="Arial" panose="020B0604020202020204" pitchFamily="34" charset="0"/>
              <a:buChar char="•"/>
            </a:pPr>
            <a:r>
              <a:rPr lang="en-US"/>
              <a:t>Lives in a village or remote area.</a:t>
            </a:r>
          </a:p>
          <a:p>
            <a:pPr>
              <a:buFont typeface="Arial" panose="020B0604020202020204" pitchFamily="34" charset="0"/>
              <a:buChar char="•"/>
            </a:pPr>
            <a:r>
              <a:rPr lang="en-US"/>
              <a:t>Does not know nearby hospitals or doctors.</a:t>
            </a:r>
          </a:p>
          <a:p>
            <a:pPr>
              <a:buFont typeface="Arial" panose="020B0604020202020204" pitchFamily="34" charset="0"/>
              <a:buChar char="•"/>
            </a:pPr>
            <a:r>
              <a:rPr lang="en-US"/>
              <a:t>Needs quick medical help during emergencies.</a:t>
            </a:r>
          </a:p>
          <a:p>
            <a:pPr>
              <a:buFont typeface="Arial" panose="020B0604020202020204" pitchFamily="34" charset="0"/>
              <a:buChar char="•"/>
            </a:pPr>
            <a:r>
              <a:rPr lang="en-US"/>
              <a:t>Needs simple guidance and health awareness.</a:t>
            </a:r>
          </a:p>
          <a:p>
            <a:pPr>
              <a:buNone/>
            </a:pPr>
            <a:r>
              <a:rPr lang="en-US" b="1"/>
              <a:t>2</a:t>
            </a:r>
            <a:r>
              <a:rPr lang="en-US" b="1">
                <a:solidFill>
                  <a:schemeClr val="bg1"/>
                </a:solidFill>
              </a:rPr>
              <a:t>. Urban User</a:t>
            </a:r>
            <a:endParaRPr lang="en-US">
              <a:solidFill>
                <a:schemeClr val="bg1"/>
              </a:solidFill>
            </a:endParaRPr>
          </a:p>
          <a:p>
            <a:pPr>
              <a:buFont typeface="Arial" panose="020B0604020202020204" pitchFamily="34" charset="0"/>
              <a:buChar char="•"/>
            </a:pPr>
            <a:r>
              <a:rPr lang="en-US"/>
              <a:t>Lives in a city with many hospitals.</a:t>
            </a:r>
          </a:p>
          <a:p>
            <a:pPr>
              <a:buFont typeface="Arial" panose="020B0604020202020204" pitchFamily="34" charset="0"/>
              <a:buChar char="•"/>
            </a:pPr>
            <a:r>
              <a:rPr lang="en-US"/>
              <a:t>Needs a fast way to find the nearest available doctor or pharmacy.</a:t>
            </a:r>
          </a:p>
          <a:p>
            <a:pPr>
              <a:buFont typeface="Arial" panose="020B0604020202020204" pitchFamily="34" charset="0"/>
              <a:buChar char="•"/>
            </a:pPr>
            <a:r>
              <a:rPr lang="en-US"/>
              <a:t>Wants quick healthcare information and support.</a:t>
            </a:r>
          </a:p>
          <a:p>
            <a:pPr>
              <a:buNone/>
            </a:pPr>
            <a:r>
              <a:rPr lang="en-US" b="1"/>
              <a:t>3. </a:t>
            </a:r>
            <a:r>
              <a:rPr lang="en-US" b="1">
                <a:solidFill>
                  <a:schemeClr val="bg1"/>
                </a:solidFill>
              </a:rPr>
              <a:t>Emergency Patient</a:t>
            </a:r>
            <a:endParaRPr lang="en-US">
              <a:solidFill>
                <a:schemeClr val="bg1"/>
              </a:solidFill>
            </a:endParaRPr>
          </a:p>
          <a:p>
            <a:pPr>
              <a:buFont typeface="Arial" panose="020B0604020202020204" pitchFamily="34" charset="0"/>
              <a:buChar char="•"/>
            </a:pPr>
            <a:r>
              <a:rPr lang="en-US"/>
              <a:t>Facing a critical health situation.</a:t>
            </a:r>
          </a:p>
          <a:p>
            <a:pPr>
              <a:buFont typeface="Arial" panose="020B0604020202020204" pitchFamily="34" charset="0"/>
              <a:buChar char="•"/>
            </a:pPr>
            <a:r>
              <a:rPr lang="en-US"/>
              <a:t>Needs an ambulance and hospital immediately.</a:t>
            </a:r>
          </a:p>
          <a:p>
            <a:pPr>
              <a:buFont typeface="Arial" panose="020B0604020202020204" pitchFamily="34" charset="0"/>
              <a:buChar char="•"/>
            </a:pPr>
            <a:r>
              <a:rPr lang="en-US"/>
              <a:t>Requires the fastest route and emergency assistance.</a:t>
            </a:r>
          </a:p>
          <a:p>
            <a:pPr>
              <a:buNone/>
            </a:pPr>
            <a:r>
              <a:rPr lang="en-US" b="1"/>
              <a:t>4. </a:t>
            </a:r>
            <a:r>
              <a:rPr lang="en-US" b="1">
                <a:solidFill>
                  <a:schemeClr val="bg1"/>
                </a:solidFill>
              </a:rPr>
              <a:t>Family Member / Caregiver</a:t>
            </a:r>
            <a:endParaRPr lang="en-US">
              <a:solidFill>
                <a:schemeClr val="bg1"/>
              </a:solidFill>
            </a:endParaRPr>
          </a:p>
          <a:p>
            <a:pPr>
              <a:buFont typeface="Arial" panose="020B0604020202020204" pitchFamily="34" charset="0"/>
              <a:buChar char="•"/>
            </a:pPr>
            <a:r>
              <a:rPr lang="en-US"/>
              <a:t>Helping a patient during an emergency.</a:t>
            </a:r>
          </a:p>
          <a:p>
            <a:pPr>
              <a:buFont typeface="Arial" panose="020B0604020202020204" pitchFamily="34" charset="0"/>
              <a:buChar char="•"/>
            </a:pPr>
            <a:r>
              <a:rPr lang="en-US"/>
              <a:t>Needs quick information about hospitals, doctors, and medical stores.</a:t>
            </a:r>
          </a:p>
          <a:p>
            <a:pPr>
              <a:buFont typeface="Arial" panose="020B0604020202020204" pitchFamily="34" charset="0"/>
              <a:buChar char="•"/>
            </a:pPr>
            <a:r>
              <a:rPr lang="en-US"/>
              <a:t>Wants fast decisions to get medical help.</a:t>
            </a:r>
          </a:p>
          <a:p>
            <a:pPr>
              <a:buNone/>
            </a:pPr>
            <a:r>
              <a:rPr lang="en-US" b="1"/>
              <a:t>5. </a:t>
            </a:r>
            <a:r>
              <a:rPr lang="en-US" b="1">
                <a:solidFill>
                  <a:schemeClr val="bg1"/>
                </a:solidFill>
              </a:rPr>
              <a:t>Travelers / Visitors</a:t>
            </a:r>
            <a:endParaRPr lang="en-US">
              <a:solidFill>
                <a:schemeClr val="bg1"/>
              </a:solidFill>
            </a:endParaRPr>
          </a:p>
          <a:p>
            <a:pPr>
              <a:buFont typeface="Arial" panose="020B0604020202020204" pitchFamily="34" charset="0"/>
              <a:buChar char="•"/>
            </a:pPr>
            <a:r>
              <a:rPr lang="en-US"/>
              <a:t>In a new city and unfamiliar with healthcare facilities.</a:t>
            </a:r>
          </a:p>
          <a:p>
            <a:pPr>
              <a:buFont typeface="Arial" panose="020B0604020202020204" pitchFamily="34" charset="0"/>
              <a:buChar char="•"/>
            </a:pPr>
            <a:r>
              <a:rPr lang="en-US"/>
              <a:t>Need to quickly locate nearby hospitals or emergency services.</a:t>
            </a:r>
          </a:p>
          <a:p>
            <a:pPr>
              <a:buNone/>
            </a:pPr>
            <a:r>
              <a:rPr lang="en-US" b="1"/>
              <a:t>6. </a:t>
            </a:r>
            <a:r>
              <a:rPr lang="en-US" b="1">
                <a:solidFill>
                  <a:schemeClr val="bg1"/>
                </a:solidFill>
              </a:rPr>
              <a:t>Busy Users / Workers</a:t>
            </a:r>
            <a:endParaRPr lang="en-US">
              <a:solidFill>
                <a:schemeClr val="bg1"/>
              </a:solidFill>
            </a:endParaRPr>
          </a:p>
          <a:p>
            <a:pPr>
              <a:buFont typeface="Arial" panose="020B0604020202020204" pitchFamily="34" charset="0"/>
              <a:buChar char="•"/>
            </a:pPr>
            <a:r>
              <a:rPr lang="en-US"/>
              <a:t>Often ignore stress or health issues due to busy schedules.</a:t>
            </a:r>
          </a:p>
          <a:p>
            <a:pPr>
              <a:buFont typeface="Arial" panose="020B0604020202020204" pitchFamily="34" charset="0"/>
              <a:buChar char="•"/>
            </a:pPr>
            <a:r>
              <a:rPr lang="en-US"/>
              <a:t>Realize burnout or health problems too late.</a:t>
            </a:r>
          </a:p>
          <a:p>
            <a:pPr>
              <a:buFont typeface="Arial" panose="020B0604020202020204" pitchFamily="34" charset="0"/>
              <a:buChar char="•"/>
            </a:pPr>
            <a:r>
              <a:rPr lang="en-US"/>
              <a:t>Need AI alerts and health guidance before problems become serious.</a:t>
            </a:r>
          </a:p>
        </p:txBody>
      </p:sp>
    </p:spTree>
    <p:extLst>
      <p:ext uri="{BB962C8B-B14F-4D97-AF65-F5344CB8AC3E}">
        <p14:creationId xmlns:p14="http://schemas.microsoft.com/office/powerpoint/2010/main" val="2136952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FA869655-114E-DFF3-DF8A-0AF282691575}"/>
              </a:ext>
            </a:extLst>
          </p:cNvPr>
          <p:cNvSpPr txBox="1"/>
          <p:nvPr/>
        </p:nvSpPr>
        <p:spPr>
          <a:xfrm>
            <a:off x="3727939" y="465132"/>
            <a:ext cx="8098972" cy="3463774"/>
          </a:xfrm>
          <a:prstGeom prst="rect">
            <a:avLst/>
          </a:prstGeom>
          <a:noFill/>
        </p:spPr>
        <p:txBody>
          <a:bodyPr wrap="square">
            <a:spAutoFit/>
          </a:bodyPr>
          <a:lstStyle/>
          <a:p>
            <a:pPr>
              <a:buNone/>
            </a:pPr>
            <a:r>
              <a:rPr lang="en-US" sz="2000" b="1">
                <a:solidFill>
                  <a:schemeClr val="bg1"/>
                </a:solidFill>
              </a:rPr>
              <a:t>U1 – User Problem</a:t>
            </a:r>
          </a:p>
          <a:p>
            <a:pPr>
              <a:buNone/>
            </a:pPr>
            <a:endParaRPr lang="en-US" sz="2000" b="1">
              <a:solidFill>
                <a:schemeClr val="bg1"/>
              </a:solidFill>
            </a:endParaRPr>
          </a:p>
          <a:p>
            <a:pPr>
              <a:buNone/>
            </a:pPr>
            <a:r>
              <a:rPr lang="en-US"/>
              <a:t>People often face medical emergencies late at night when doctors are not easily available.</a:t>
            </a:r>
          </a:p>
          <a:p>
            <a:pPr>
              <a:buNone/>
            </a:pPr>
            <a:endParaRPr lang="en-US"/>
          </a:p>
          <a:p>
            <a:pPr>
              <a:buNone/>
            </a:pPr>
            <a:r>
              <a:rPr lang="en-US"/>
              <a:t>In rural areas, finding a nearby hospital or medical help becomes very difficult.</a:t>
            </a:r>
          </a:p>
          <a:p>
            <a:pPr>
              <a:buNone/>
            </a:pPr>
            <a:r>
              <a:rPr lang="en-US"/>
              <a:t>During emergencies, users waste valuable time searching for hospitals, doctors, or ambulance services.</a:t>
            </a:r>
          </a:p>
          <a:p>
            <a:pPr>
              <a:buNone/>
            </a:pPr>
            <a:endParaRPr lang="en-US"/>
          </a:p>
          <a:p>
            <a:pPr>
              <a:buNone/>
            </a:pPr>
            <a:r>
              <a:rPr lang="en-US"/>
              <a:t>Most apps only show hospital locations and do not provide instant emergency support or quick connections to medical services.</a:t>
            </a:r>
          </a:p>
        </p:txBody>
      </p:sp>
      <p:pic>
        <p:nvPicPr>
          <p:cNvPr id="3" name="Picture 2">
            <a:extLst>
              <a:ext uri="{FF2B5EF4-FFF2-40B4-BE49-F238E27FC236}">
                <a16:creationId xmlns:a16="http://schemas.microsoft.com/office/drawing/2014/main" id="{3FA6FC14-D0FD-7FA9-3F7B-48BEBC1278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76625"/>
            <a:ext cx="3637503" cy="6934625"/>
          </a:xfrm>
          <a:prstGeom prst="rect">
            <a:avLst/>
          </a:prstGeom>
        </p:spPr>
      </p:pic>
    </p:spTree>
    <p:extLst>
      <p:ext uri="{BB962C8B-B14F-4D97-AF65-F5344CB8AC3E}">
        <p14:creationId xmlns:p14="http://schemas.microsoft.com/office/powerpoint/2010/main" val="113751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583300-77E3-F5D5-6C40-1FC3449E6657}"/>
              </a:ext>
            </a:extLst>
          </p:cNvPr>
          <p:cNvSpPr txBox="1"/>
          <p:nvPr/>
        </p:nvSpPr>
        <p:spPr>
          <a:xfrm>
            <a:off x="391886" y="135791"/>
            <a:ext cx="11585747" cy="6709529"/>
          </a:xfrm>
          <a:prstGeom prst="rect">
            <a:avLst/>
          </a:prstGeom>
          <a:noFill/>
        </p:spPr>
        <p:txBody>
          <a:bodyPr wrap="square">
            <a:spAutoFit/>
          </a:bodyPr>
          <a:lstStyle/>
          <a:p>
            <a:pPr>
              <a:buNone/>
            </a:pPr>
            <a:r>
              <a:rPr lang="en-US" sz="2000" b="1">
                <a:solidFill>
                  <a:schemeClr val="bg1"/>
                </a:solidFill>
              </a:rPr>
              <a:t>U1 – Solution</a:t>
            </a:r>
          </a:p>
          <a:p>
            <a:pPr>
              <a:buNone/>
            </a:pPr>
            <a:endParaRPr lang="en-US" sz="2000" b="1">
              <a:solidFill>
                <a:schemeClr val="bg1"/>
              </a:solidFill>
            </a:endParaRPr>
          </a:p>
          <a:p>
            <a:pPr>
              <a:buNone/>
            </a:pPr>
            <a:r>
              <a:rPr lang="en-US" sz="2000"/>
              <a:t>Users can enter their health problem in the web app.</a:t>
            </a:r>
          </a:p>
          <a:p>
            <a:pPr>
              <a:buNone/>
            </a:pPr>
            <a:br>
              <a:rPr lang="en-US" sz="2000"/>
            </a:br>
            <a:r>
              <a:rPr lang="en-US" sz="2000"/>
              <a:t>The system provides quick guidance and connects the user to nearby available doctors or medical stores.</a:t>
            </a:r>
          </a:p>
          <a:p>
            <a:pPr>
              <a:buNone/>
            </a:pPr>
            <a:endParaRPr lang="en-US" sz="2000"/>
          </a:p>
          <a:p>
            <a:pPr>
              <a:buNone/>
            </a:pPr>
            <a:r>
              <a:rPr lang="en-US" sz="2000"/>
              <a:t>Users can also ask health-related questions using an AI assistant (similar to Gemini Live).</a:t>
            </a:r>
          </a:p>
          <a:p>
            <a:pPr>
              <a:buNone/>
            </a:pPr>
            <a:br>
              <a:rPr lang="en-US" sz="2000"/>
            </a:br>
            <a:r>
              <a:rPr lang="en-US" sz="2000"/>
              <a:t>The AI provides clear answers and basic health guidance.</a:t>
            </a:r>
          </a:p>
          <a:p>
            <a:pPr>
              <a:buNone/>
            </a:pPr>
            <a:endParaRPr lang="en-US" sz="2000"/>
          </a:p>
          <a:p>
            <a:pPr>
              <a:buNone/>
            </a:pPr>
            <a:r>
              <a:rPr lang="en-US" sz="2000"/>
              <a:t>The solution is shown in the user’s preferred language.</a:t>
            </a:r>
          </a:p>
          <a:p>
            <a:pPr>
              <a:buNone/>
            </a:pPr>
            <a:br>
              <a:rPr lang="en-US" sz="2000"/>
            </a:br>
            <a:r>
              <a:rPr lang="en-US" sz="2000"/>
              <a:t>If the user cannot read, the AI can automatically read the guidance aloud and explain what the user should do next.</a:t>
            </a:r>
          </a:p>
          <a:p>
            <a:pPr>
              <a:buNone/>
            </a:pPr>
            <a:br>
              <a:rPr lang="en-US"/>
            </a:br>
            <a:r>
              <a:rPr lang="en-US" sz="2000">
                <a:solidFill>
                  <a:schemeClr val="bg1"/>
                </a:solidFill>
              </a:rPr>
              <a:t>in simple</a:t>
            </a:r>
          </a:p>
          <a:p>
            <a:pPr>
              <a:buNone/>
            </a:pPr>
            <a:endParaRPr lang="en-US" sz="2000">
              <a:solidFill>
                <a:schemeClr val="bg1"/>
              </a:solidFill>
            </a:endParaRPr>
          </a:p>
          <a:p>
            <a:pPr>
              <a:buFont typeface="Arial" panose="020B0604020202020204" pitchFamily="34" charset="0"/>
              <a:buChar char="•"/>
            </a:pPr>
            <a:r>
              <a:rPr lang="en-US"/>
              <a:t>AI feature</a:t>
            </a:r>
          </a:p>
          <a:p>
            <a:pPr>
              <a:buFont typeface="Arial" panose="020B0604020202020204" pitchFamily="34" charset="0"/>
              <a:buChar char="•"/>
            </a:pPr>
            <a:r>
              <a:rPr lang="en-US"/>
              <a:t>Doctor connection</a:t>
            </a:r>
          </a:p>
          <a:p>
            <a:pPr>
              <a:buFont typeface="Arial" panose="020B0604020202020204" pitchFamily="34" charset="0"/>
              <a:buChar char="•"/>
            </a:pPr>
            <a:r>
              <a:rPr lang="en-US"/>
              <a:t>Rural accessibility</a:t>
            </a:r>
          </a:p>
          <a:p>
            <a:pPr>
              <a:buFont typeface="Arial" panose="020B0604020202020204" pitchFamily="34" charset="0"/>
              <a:buChar char="•"/>
            </a:pPr>
            <a:r>
              <a:rPr lang="en-US"/>
              <a:t>Voice assistance</a:t>
            </a:r>
          </a:p>
        </p:txBody>
      </p:sp>
    </p:spTree>
    <p:extLst>
      <p:ext uri="{BB962C8B-B14F-4D97-AF65-F5344CB8AC3E}">
        <p14:creationId xmlns:p14="http://schemas.microsoft.com/office/powerpoint/2010/main" val="233702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7BD8CC-19EE-0BEE-C80F-888FDB22BB34}"/>
              </a:ext>
            </a:extLst>
          </p:cNvPr>
          <p:cNvSpPr txBox="1"/>
          <p:nvPr/>
        </p:nvSpPr>
        <p:spPr>
          <a:xfrm>
            <a:off x="3758084" y="686195"/>
            <a:ext cx="8309986" cy="5093702"/>
          </a:xfrm>
          <a:prstGeom prst="rect">
            <a:avLst/>
          </a:prstGeom>
          <a:noFill/>
        </p:spPr>
        <p:txBody>
          <a:bodyPr wrap="square">
            <a:spAutoFit/>
          </a:bodyPr>
          <a:lstStyle/>
          <a:p>
            <a:pPr>
              <a:buNone/>
            </a:pPr>
            <a:r>
              <a:rPr lang="en-US" sz="2500" b="1">
                <a:solidFill>
                  <a:schemeClr val="bg1"/>
                </a:solidFill>
              </a:rPr>
              <a:t>U2 – User Problem (City Emergency)</a:t>
            </a:r>
          </a:p>
          <a:p>
            <a:pPr>
              <a:buNone/>
            </a:pPr>
            <a:endParaRPr lang="en-US" sz="2000" b="1">
              <a:solidFill>
                <a:schemeClr val="bg1"/>
              </a:solidFill>
            </a:endParaRPr>
          </a:p>
          <a:p>
            <a:pPr>
              <a:buFont typeface="Arial" panose="020B0604020202020204" pitchFamily="34" charset="0"/>
              <a:buChar char="•"/>
            </a:pPr>
            <a:r>
              <a:rPr lang="en-US" sz="2000"/>
              <a:t>In cities, during emergencies people struggle to quickly find nearby medical stores.</a:t>
            </a:r>
          </a:p>
          <a:p>
            <a:pPr>
              <a:buFont typeface="Arial" panose="020B0604020202020204" pitchFamily="34" charset="0"/>
              <a:buChar char="•"/>
            </a:pPr>
            <a:endParaRPr lang="en-US" sz="2000"/>
          </a:p>
          <a:p>
            <a:pPr>
              <a:buFont typeface="Arial" panose="020B0604020202020204" pitchFamily="34" charset="0"/>
              <a:buChar char="•"/>
            </a:pPr>
            <a:r>
              <a:rPr lang="en-US" sz="2000"/>
              <a:t>Users need medicines urgently but do not know which pharmacy is open.</a:t>
            </a:r>
          </a:p>
          <a:p>
            <a:pPr>
              <a:buFont typeface="Arial" panose="020B0604020202020204" pitchFamily="34" charset="0"/>
              <a:buChar char="•"/>
            </a:pPr>
            <a:endParaRPr lang="en-US" sz="2000"/>
          </a:p>
          <a:p>
            <a:pPr>
              <a:buFont typeface="Arial" panose="020B0604020202020204" pitchFamily="34" charset="0"/>
              <a:buChar char="•"/>
            </a:pPr>
            <a:r>
              <a:rPr lang="en-US" sz="2000"/>
              <a:t>It takes time to search different shops and check medicine availability.</a:t>
            </a:r>
          </a:p>
          <a:p>
            <a:pPr>
              <a:buFont typeface="Arial" panose="020B0604020202020204" pitchFamily="34" charset="0"/>
              <a:buChar char="•"/>
            </a:pPr>
            <a:endParaRPr lang="en-US" sz="2000"/>
          </a:p>
          <a:p>
            <a:pPr>
              <a:buFont typeface="Arial" panose="020B0604020202020204" pitchFamily="34" charset="0"/>
              <a:buChar char="•"/>
            </a:pPr>
            <a:r>
              <a:rPr lang="en-US" sz="2000"/>
              <a:t>During emergencies, users also struggle to find available ambulances nearby.</a:t>
            </a:r>
          </a:p>
          <a:p>
            <a:pPr>
              <a:buFont typeface="Arial" panose="020B0604020202020204" pitchFamily="34" charset="0"/>
              <a:buChar char="•"/>
            </a:pPr>
            <a:endParaRPr lang="en-US" sz="2000"/>
          </a:p>
          <a:p>
            <a:pPr>
              <a:buFont typeface="Arial" panose="020B0604020202020204" pitchFamily="34" charset="0"/>
              <a:buChar char="•"/>
            </a:pPr>
            <a:r>
              <a:rPr lang="en-US" sz="2000"/>
              <a:t>There is no single platform to quickly locate medicines and ambulance services.</a:t>
            </a:r>
          </a:p>
        </p:txBody>
      </p:sp>
      <p:pic>
        <p:nvPicPr>
          <p:cNvPr id="4" name="Picture 3">
            <a:extLst>
              <a:ext uri="{FF2B5EF4-FFF2-40B4-BE49-F238E27FC236}">
                <a16:creationId xmlns:a16="http://schemas.microsoft.com/office/drawing/2014/main" id="{85858BD2-EC43-C9D3-1840-209EE2A2C7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387" y="0"/>
            <a:ext cx="3697794" cy="6858000"/>
          </a:xfrm>
          <a:prstGeom prst="rect">
            <a:avLst/>
          </a:prstGeom>
        </p:spPr>
      </p:pic>
    </p:spTree>
    <p:extLst>
      <p:ext uri="{BB962C8B-B14F-4D97-AF65-F5344CB8AC3E}">
        <p14:creationId xmlns:p14="http://schemas.microsoft.com/office/powerpoint/2010/main" val="3195163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3AFED0-E57C-157C-8026-439359FBA198}"/>
              </a:ext>
            </a:extLst>
          </p:cNvPr>
          <p:cNvSpPr txBox="1"/>
          <p:nvPr/>
        </p:nvSpPr>
        <p:spPr>
          <a:xfrm>
            <a:off x="351693" y="806775"/>
            <a:ext cx="11840308" cy="6001643"/>
          </a:xfrm>
          <a:prstGeom prst="rect">
            <a:avLst/>
          </a:prstGeom>
          <a:noFill/>
        </p:spPr>
        <p:txBody>
          <a:bodyPr wrap="square">
            <a:spAutoFit/>
          </a:bodyPr>
          <a:lstStyle/>
          <a:p>
            <a:pPr>
              <a:buNone/>
            </a:pPr>
            <a:r>
              <a:rPr lang="en-US" sz="2500" b="1">
                <a:solidFill>
                  <a:schemeClr val="bg1"/>
                </a:solidFill>
              </a:rPr>
              <a:t>U2 – Solution</a:t>
            </a:r>
          </a:p>
          <a:p>
            <a:pPr>
              <a:buNone/>
            </a:pPr>
            <a:endParaRPr lang="en-US" sz="2000" b="1">
              <a:solidFill>
                <a:schemeClr val="bg1"/>
              </a:solidFill>
            </a:endParaRPr>
          </a:p>
          <a:p>
            <a:pPr>
              <a:buFont typeface="Arial" panose="020B0604020202020204" pitchFamily="34" charset="0"/>
              <a:buChar char="•"/>
            </a:pPr>
            <a:r>
              <a:rPr lang="en-US" sz="2300"/>
              <a:t>The web app tracks the user’s location to show or search  nearby medical stores.</a:t>
            </a:r>
          </a:p>
          <a:p>
            <a:pPr>
              <a:buFont typeface="Arial" panose="020B0604020202020204" pitchFamily="34" charset="0"/>
              <a:buChar char="•"/>
            </a:pPr>
            <a:endParaRPr lang="en-US" sz="2300"/>
          </a:p>
          <a:p>
            <a:pPr>
              <a:buFont typeface="Arial" panose="020B0604020202020204" pitchFamily="34" charset="0"/>
              <a:buChar char="•"/>
            </a:pPr>
            <a:r>
              <a:rPr lang="en-US" sz="2300"/>
              <a:t>Users can search medicines and see which pharmacy has them available. And user if need medicines they can order </a:t>
            </a:r>
          </a:p>
          <a:p>
            <a:pPr>
              <a:buFont typeface="Arial" panose="020B0604020202020204" pitchFamily="34" charset="0"/>
              <a:buChar char="•"/>
            </a:pPr>
            <a:endParaRPr lang="en-US" sz="2300"/>
          </a:p>
          <a:p>
            <a:pPr>
              <a:buFont typeface="Arial" panose="020B0604020202020204" pitchFamily="34" charset="0"/>
              <a:buChar char="•"/>
            </a:pPr>
            <a:r>
              <a:rPr lang="en-US" sz="2300"/>
              <a:t>The system works similar to Zomato-style search but for medicines.</a:t>
            </a:r>
          </a:p>
          <a:p>
            <a:pPr>
              <a:buFont typeface="Arial" panose="020B0604020202020204" pitchFamily="34" charset="0"/>
              <a:buChar char="•"/>
            </a:pPr>
            <a:endParaRPr lang="en-US" sz="2300"/>
          </a:p>
          <a:p>
            <a:pPr>
              <a:buFont typeface="Arial" panose="020B0604020202020204" pitchFamily="34" charset="0"/>
              <a:buChar char="•"/>
            </a:pPr>
            <a:r>
              <a:rPr lang="en-US" sz="2300"/>
              <a:t>Users can also find nearby available ambulances in real time.</a:t>
            </a:r>
          </a:p>
          <a:p>
            <a:pPr>
              <a:buFont typeface="Arial" panose="020B0604020202020204" pitchFamily="34" charset="0"/>
              <a:buChar char="•"/>
            </a:pPr>
            <a:endParaRPr lang="en-US" sz="2300"/>
          </a:p>
          <a:p>
            <a:pPr>
              <a:buFont typeface="Arial" panose="020B0604020202020204" pitchFamily="34" charset="0"/>
              <a:buChar char="•"/>
            </a:pPr>
            <a:r>
              <a:rPr lang="en-US" sz="2300"/>
              <a:t>The platform connects users directly to ambulance owners so they can contact or book quickly.</a:t>
            </a:r>
          </a:p>
          <a:p>
            <a:pPr>
              <a:buFont typeface="Arial" panose="020B0604020202020204" pitchFamily="34" charset="0"/>
              <a:buChar char="•"/>
            </a:pPr>
            <a:endParaRPr lang="en-US" sz="2300"/>
          </a:p>
          <a:p>
            <a:pPr>
              <a:buFont typeface="Arial" panose="020B0604020202020204" pitchFamily="34" charset="0"/>
              <a:buChar char="•"/>
            </a:pPr>
            <a:r>
              <a:rPr lang="en-US" sz="2300"/>
              <a:t>This most demanded idea in real world so this become startup idea also </a:t>
            </a:r>
          </a:p>
          <a:p>
            <a:pPr>
              <a:buFont typeface="Arial" panose="020B0604020202020204" pitchFamily="34" charset="0"/>
              <a:buChar char="•"/>
            </a:pPr>
            <a:endParaRPr lang="en-US" sz="2000"/>
          </a:p>
          <a:p>
            <a:pPr>
              <a:buFont typeface="Arial" panose="020B0604020202020204" pitchFamily="34" charset="0"/>
              <a:buChar char="•"/>
            </a:pPr>
            <a:endParaRPr lang="en-US" sz="2000"/>
          </a:p>
        </p:txBody>
      </p:sp>
    </p:spTree>
    <p:extLst>
      <p:ext uri="{BB962C8B-B14F-4D97-AF65-F5344CB8AC3E}">
        <p14:creationId xmlns:p14="http://schemas.microsoft.com/office/powerpoint/2010/main" val="1905986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71AEBC-4C24-1854-E792-500FEE71FE4B}"/>
              </a:ext>
            </a:extLst>
          </p:cNvPr>
          <p:cNvSpPr txBox="1"/>
          <p:nvPr/>
        </p:nvSpPr>
        <p:spPr>
          <a:xfrm>
            <a:off x="6008913" y="656049"/>
            <a:ext cx="7455877" cy="6340197"/>
          </a:xfrm>
          <a:prstGeom prst="rect">
            <a:avLst/>
          </a:prstGeom>
          <a:noFill/>
        </p:spPr>
        <p:txBody>
          <a:bodyPr wrap="square">
            <a:spAutoFit/>
          </a:bodyPr>
          <a:lstStyle/>
          <a:p>
            <a:r>
              <a:rPr lang="en-US" sz="2500" b="1">
                <a:solidFill>
                  <a:schemeClr val="bg1"/>
                </a:solidFill>
              </a:rPr>
              <a:t>User 3– Problem (Aarav)</a:t>
            </a:r>
          </a:p>
          <a:p>
            <a:endParaRPr lang="en-US" sz="2500" b="1">
              <a:solidFill>
                <a:schemeClr val="bg1"/>
              </a:solidFill>
            </a:endParaRPr>
          </a:p>
          <a:p>
            <a:r>
              <a:rPr lang="en-US" sz="2000" b="1"/>
              <a:t>Name:</a:t>
            </a:r>
            <a:r>
              <a:rPr lang="en-US" sz="2000"/>
              <a:t> Aarav</a:t>
            </a:r>
          </a:p>
          <a:p>
            <a:br>
              <a:rPr lang="en-US" sz="2000"/>
            </a:br>
            <a:r>
              <a:rPr lang="en-US" sz="2000" b="1"/>
              <a:t>Age:</a:t>
            </a:r>
            <a:r>
              <a:rPr lang="en-US" sz="2000"/>
              <a:t> 21</a:t>
            </a:r>
          </a:p>
          <a:p>
            <a:endParaRPr lang="en-US" sz="2000"/>
          </a:p>
          <a:p>
            <a:r>
              <a:rPr lang="en-US" sz="2000" b="1"/>
              <a:t>Problem:</a:t>
            </a:r>
            <a:r>
              <a:rPr lang="en-US" sz="2000"/>
              <a:t> Exam stress and poor sleep</a:t>
            </a:r>
          </a:p>
          <a:p>
            <a:endParaRPr lang="en-US" sz="2000"/>
          </a:p>
          <a:p>
            <a:r>
              <a:rPr lang="en-US" sz="2000" b="1"/>
              <a:t>Issues</a:t>
            </a:r>
          </a:p>
          <a:p>
            <a:endParaRPr lang="en-US" sz="2000"/>
          </a:p>
          <a:p>
            <a:r>
              <a:rPr lang="en-US" sz="2000"/>
              <a:t>Studies late at night</a:t>
            </a:r>
          </a:p>
          <a:p>
            <a:r>
              <a:rPr lang="en-US" sz="2000"/>
              <a:t>Sleeps less</a:t>
            </a:r>
          </a:p>
          <a:p>
            <a:r>
              <a:rPr lang="en-US" sz="2000"/>
              <a:t>Feels tired before exams</a:t>
            </a:r>
          </a:p>
          <a:p>
            <a:endParaRPr lang="en-US" sz="2000"/>
          </a:p>
          <a:p>
            <a:r>
              <a:rPr lang="en-US" sz="2000" b="1"/>
              <a:t>Goal</a:t>
            </a:r>
            <a:endParaRPr lang="en-US" sz="2000"/>
          </a:p>
          <a:p>
            <a:r>
              <a:rPr lang="en-US" sz="2000"/>
              <a:t>Avoid burnout</a:t>
            </a:r>
          </a:p>
          <a:p>
            <a:r>
              <a:rPr lang="en-US" sz="2000"/>
              <a:t>Stay consistent</a:t>
            </a:r>
          </a:p>
          <a:p>
            <a:r>
              <a:rPr lang="en-US" sz="2000"/>
              <a:t>Improve performance</a:t>
            </a:r>
          </a:p>
          <a:p>
            <a:br>
              <a:rPr lang="en-US"/>
            </a:br>
            <a:endParaRPr lang="en-US" sz="1800"/>
          </a:p>
        </p:txBody>
      </p:sp>
      <p:pic>
        <p:nvPicPr>
          <p:cNvPr id="4" name="Picture 3">
            <a:extLst>
              <a:ext uri="{FF2B5EF4-FFF2-40B4-BE49-F238E27FC236}">
                <a16:creationId xmlns:a16="http://schemas.microsoft.com/office/drawing/2014/main" id="{009CB8A2-D3FF-2400-BA45-A27B7C93ED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62" y="0"/>
            <a:ext cx="5563133" cy="6858000"/>
          </a:xfrm>
          <a:prstGeom prst="rect">
            <a:avLst/>
          </a:prstGeom>
        </p:spPr>
      </p:pic>
    </p:spTree>
    <p:extLst>
      <p:ext uri="{BB962C8B-B14F-4D97-AF65-F5344CB8AC3E}">
        <p14:creationId xmlns:p14="http://schemas.microsoft.com/office/powerpoint/2010/main" val="4187743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24D9E9-9AD6-AADA-6F99-54D7FE1BDD62}"/>
              </a:ext>
            </a:extLst>
          </p:cNvPr>
          <p:cNvSpPr txBox="1"/>
          <p:nvPr/>
        </p:nvSpPr>
        <p:spPr>
          <a:xfrm>
            <a:off x="753627" y="802421"/>
            <a:ext cx="11324492" cy="4616648"/>
          </a:xfrm>
          <a:prstGeom prst="rect">
            <a:avLst/>
          </a:prstGeom>
          <a:noFill/>
        </p:spPr>
        <p:txBody>
          <a:bodyPr wrap="square">
            <a:spAutoFit/>
          </a:bodyPr>
          <a:lstStyle/>
          <a:p>
            <a:r>
              <a:rPr lang="en-US" sz="2700" b="1">
                <a:solidFill>
                  <a:schemeClr val="bg1"/>
                </a:solidFill>
              </a:rPr>
              <a:t>Our solution:</a:t>
            </a:r>
          </a:p>
          <a:p>
            <a:endParaRPr lang="en-US" sz="2700" b="1">
              <a:solidFill>
                <a:schemeClr val="bg1"/>
              </a:solidFill>
            </a:endParaRPr>
          </a:p>
          <a:p>
            <a:r>
              <a:rPr lang="en-US" sz="2400" b="1">
                <a:solidFill>
                  <a:schemeClr val="bg1"/>
                </a:solidFill>
              </a:rPr>
              <a:t>Solution – </a:t>
            </a:r>
            <a:r>
              <a:rPr lang="en-US" sz="2400" b="1"/>
              <a:t>Early Health Risk Prediction</a:t>
            </a:r>
          </a:p>
          <a:p>
            <a:endParaRPr lang="en-US" sz="2400" b="1"/>
          </a:p>
          <a:p>
            <a:r>
              <a:rPr lang="en-US" sz="2400" b="1"/>
              <a:t>What Are We Building?</a:t>
            </a:r>
            <a:br>
              <a:rPr lang="en-US" sz="2400"/>
            </a:br>
            <a:r>
              <a:rPr lang="en-US" sz="2400"/>
              <a:t>A software that predicts health risks early.</a:t>
            </a:r>
          </a:p>
          <a:p>
            <a:endParaRPr lang="en-US" sz="2400"/>
          </a:p>
          <a:p>
            <a:r>
              <a:rPr lang="en-US" sz="2400" b="1"/>
              <a:t>Who Is It For?</a:t>
            </a:r>
            <a:br>
              <a:rPr lang="en-US" sz="2400"/>
            </a:br>
            <a:r>
              <a:rPr lang="en-US" sz="2400"/>
              <a:t>Students and professionals who are under stress.</a:t>
            </a:r>
          </a:p>
          <a:p>
            <a:endParaRPr lang="en-US" sz="2400"/>
          </a:p>
          <a:p>
            <a:r>
              <a:rPr lang="en-US" sz="2400" b="1"/>
              <a:t>What Problem Does It Solve?</a:t>
            </a:r>
            <a:br>
              <a:rPr lang="en-US" sz="2400"/>
            </a:br>
            <a:r>
              <a:rPr lang="en-US" sz="2400"/>
              <a:t>People often realize burnout and fatigue too late.</a:t>
            </a:r>
          </a:p>
        </p:txBody>
      </p:sp>
    </p:spTree>
    <p:extLst>
      <p:ext uri="{BB962C8B-B14F-4D97-AF65-F5344CB8AC3E}">
        <p14:creationId xmlns:p14="http://schemas.microsoft.com/office/powerpoint/2010/main" val="1173243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EBAE3E-E5D3-3D0B-2090-C95E53DBA35E}"/>
              </a:ext>
            </a:extLst>
          </p:cNvPr>
          <p:cNvSpPr txBox="1"/>
          <p:nvPr/>
        </p:nvSpPr>
        <p:spPr>
          <a:xfrm>
            <a:off x="3627454" y="364648"/>
            <a:ext cx="8564545" cy="4247317"/>
          </a:xfrm>
          <a:prstGeom prst="rect">
            <a:avLst/>
          </a:prstGeom>
          <a:noFill/>
        </p:spPr>
        <p:txBody>
          <a:bodyPr wrap="square">
            <a:spAutoFit/>
          </a:bodyPr>
          <a:lstStyle/>
          <a:p>
            <a:pPr>
              <a:buNone/>
            </a:pPr>
            <a:r>
              <a:rPr lang="en-US" sz="2500" b="1">
                <a:solidFill>
                  <a:schemeClr val="bg1"/>
                </a:solidFill>
              </a:rPr>
              <a:t>U4 – User Problem (Rural Users Without Smartphones)</a:t>
            </a:r>
          </a:p>
          <a:p>
            <a:pPr>
              <a:buNone/>
            </a:pPr>
            <a:endParaRPr lang="en-US" sz="2500" b="1">
              <a:solidFill>
                <a:schemeClr val="bg1"/>
              </a:solidFill>
            </a:endParaRPr>
          </a:p>
          <a:p>
            <a:pPr>
              <a:buFont typeface="Arial" panose="020B0604020202020204" pitchFamily="34" charset="0"/>
              <a:buChar char="•"/>
            </a:pPr>
            <a:r>
              <a:rPr lang="en-US" sz="2000"/>
              <a:t>Many rural users do not have smartphones or internet access.</a:t>
            </a:r>
          </a:p>
          <a:p>
            <a:pPr>
              <a:buFont typeface="Arial" panose="020B0604020202020204" pitchFamily="34" charset="0"/>
              <a:buChar char="•"/>
            </a:pPr>
            <a:endParaRPr lang="en-US" sz="2000"/>
          </a:p>
          <a:p>
            <a:pPr>
              <a:buFont typeface="Arial" panose="020B0604020202020204" pitchFamily="34" charset="0"/>
              <a:buChar char="•"/>
            </a:pPr>
            <a:r>
              <a:rPr lang="en-US" sz="2000"/>
              <a:t>They cannot use web apps or mobile apps to find doctors or medicines.</a:t>
            </a:r>
          </a:p>
          <a:p>
            <a:pPr>
              <a:buFont typeface="Arial" panose="020B0604020202020204" pitchFamily="34" charset="0"/>
              <a:buChar char="•"/>
            </a:pPr>
            <a:endParaRPr lang="en-US" sz="2000"/>
          </a:p>
          <a:p>
            <a:pPr>
              <a:buFont typeface="Arial" panose="020B0604020202020204" pitchFamily="34" charset="0"/>
              <a:buChar char="•"/>
            </a:pPr>
            <a:r>
              <a:rPr lang="en-US" sz="2000"/>
              <a:t>During emergencies, they do not know where to get medical help.</a:t>
            </a:r>
          </a:p>
          <a:p>
            <a:pPr>
              <a:buFont typeface="Arial" panose="020B0604020202020204" pitchFamily="34" charset="0"/>
              <a:buChar char="•"/>
            </a:pPr>
            <a:endParaRPr lang="en-US" sz="2000"/>
          </a:p>
          <a:p>
            <a:pPr>
              <a:buFont typeface="Arial" panose="020B0604020202020204" pitchFamily="34" charset="0"/>
              <a:buChar char="•"/>
            </a:pPr>
            <a:r>
              <a:rPr lang="en-US" sz="2000"/>
              <a:t>They cannot access AI guidance or online healthcare services.</a:t>
            </a:r>
          </a:p>
          <a:p>
            <a:pPr>
              <a:buFont typeface="Arial" panose="020B0604020202020204" pitchFamily="34" charset="0"/>
              <a:buChar char="•"/>
            </a:pPr>
            <a:endParaRPr lang="en-US" sz="2000"/>
          </a:p>
          <a:p>
            <a:pPr>
              <a:buFont typeface="Arial" panose="020B0604020202020204" pitchFamily="34" charset="0"/>
              <a:buChar char="•"/>
            </a:pPr>
            <a:r>
              <a:rPr lang="en-US" sz="2000"/>
              <a:t>This creates a gap between digital healthcare systems and rural communities.</a:t>
            </a:r>
          </a:p>
        </p:txBody>
      </p:sp>
      <p:pic>
        <p:nvPicPr>
          <p:cNvPr id="9" name="Picture 8">
            <a:extLst>
              <a:ext uri="{FF2B5EF4-FFF2-40B4-BE49-F238E27FC236}">
                <a16:creationId xmlns:a16="http://schemas.microsoft.com/office/drawing/2014/main" id="{D14C588A-2274-F53B-5212-AB1E4A98F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3627454" cy="6858000"/>
          </a:xfrm>
          <a:prstGeom prst="rect">
            <a:avLst/>
          </a:prstGeom>
        </p:spPr>
      </p:pic>
    </p:spTree>
    <p:extLst>
      <p:ext uri="{BB962C8B-B14F-4D97-AF65-F5344CB8AC3E}">
        <p14:creationId xmlns:p14="http://schemas.microsoft.com/office/powerpoint/2010/main" val="674904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D5056D-84CB-F3E3-C611-A7903B24360E}"/>
              </a:ext>
            </a:extLst>
          </p:cNvPr>
          <p:cNvSpPr txBox="1"/>
          <p:nvPr/>
        </p:nvSpPr>
        <p:spPr>
          <a:xfrm>
            <a:off x="3135085" y="120579"/>
            <a:ext cx="9056915" cy="4893547"/>
          </a:xfrm>
          <a:prstGeom prst="rect">
            <a:avLst/>
          </a:prstGeom>
          <a:noFill/>
        </p:spPr>
        <p:txBody>
          <a:bodyPr wrap="square">
            <a:spAutoFit/>
          </a:bodyPr>
          <a:lstStyle/>
          <a:p>
            <a:pPr>
              <a:buNone/>
            </a:pPr>
            <a:r>
              <a:rPr lang="en-US" sz="2500" b="1">
                <a:solidFill>
                  <a:schemeClr val="bg1"/>
                </a:solidFill>
              </a:rPr>
              <a:t>U4 – Solution</a:t>
            </a:r>
          </a:p>
          <a:p>
            <a:pPr>
              <a:buNone/>
            </a:pPr>
            <a:endParaRPr lang="en-US" sz="2500" b="1">
              <a:solidFill>
                <a:schemeClr val="bg1"/>
              </a:solidFill>
            </a:endParaRPr>
          </a:p>
          <a:p>
            <a:pPr>
              <a:buFont typeface="Arial" panose="020B0604020202020204" pitchFamily="34" charset="0"/>
              <a:buChar char="•"/>
            </a:pPr>
            <a:r>
              <a:rPr lang="en-US" sz="2000"/>
              <a:t>Provide a </a:t>
            </a:r>
            <a:r>
              <a:rPr lang="en-US" sz="2000" b="1"/>
              <a:t>special helpline phone number</a:t>
            </a:r>
            <a:r>
              <a:rPr lang="en-US" sz="2000"/>
              <a:t> for the service.</a:t>
            </a:r>
          </a:p>
          <a:p>
            <a:pPr>
              <a:buFont typeface="Arial" panose="020B0604020202020204" pitchFamily="34" charset="0"/>
              <a:buChar char="•"/>
            </a:pPr>
            <a:endParaRPr lang="en-US" sz="2000"/>
          </a:p>
          <a:p>
            <a:pPr>
              <a:buFont typeface="Arial" panose="020B0604020202020204" pitchFamily="34" charset="0"/>
              <a:buChar char="•"/>
            </a:pPr>
            <a:r>
              <a:rPr lang="en-US" sz="2000"/>
              <a:t>Users can </a:t>
            </a:r>
            <a:r>
              <a:rPr lang="en-US" sz="2000" b="1"/>
              <a:t>call the number using any basic phone</a:t>
            </a:r>
            <a:r>
              <a:rPr lang="en-US" sz="2000"/>
              <a:t>.</a:t>
            </a:r>
          </a:p>
          <a:p>
            <a:pPr>
              <a:buFont typeface="Arial" panose="020B0604020202020204" pitchFamily="34" charset="0"/>
              <a:buChar char="•"/>
            </a:pPr>
            <a:endParaRPr lang="en-US" sz="2000"/>
          </a:p>
          <a:p>
            <a:pPr>
              <a:buFont typeface="Arial" panose="020B0604020202020204" pitchFamily="34" charset="0"/>
              <a:buChar char="•"/>
            </a:pPr>
            <a:r>
              <a:rPr lang="en-US" sz="2000"/>
              <a:t>An </a:t>
            </a:r>
            <a:r>
              <a:rPr lang="en-US" sz="2000" b="1"/>
              <a:t>AI voice agent</a:t>
            </a:r>
            <a:r>
              <a:rPr lang="en-US" sz="2000"/>
              <a:t> answers the call and guides the user.</a:t>
            </a:r>
          </a:p>
          <a:p>
            <a:pPr>
              <a:buFont typeface="Arial" panose="020B0604020202020204" pitchFamily="34" charset="0"/>
              <a:buChar char="•"/>
            </a:pPr>
            <a:endParaRPr lang="en-US" sz="2000"/>
          </a:p>
          <a:p>
            <a:pPr>
              <a:buFont typeface="Arial" panose="020B0604020202020204" pitchFamily="34" charset="0"/>
              <a:buChar char="•"/>
            </a:pPr>
            <a:r>
              <a:rPr lang="en-US" sz="2000"/>
              <a:t>The system asks simple questions like </a:t>
            </a:r>
            <a:r>
              <a:rPr lang="en-US" sz="2000" b="1"/>
              <a:t>“Press 1 for doctor, Press 2 for ambulance, Press 3 for medical store.”</a:t>
            </a:r>
          </a:p>
          <a:p>
            <a:pPr>
              <a:buFont typeface="Arial" panose="020B0604020202020204" pitchFamily="34" charset="0"/>
              <a:buChar char="•"/>
            </a:pPr>
            <a:endParaRPr lang="en-US" sz="2000"/>
          </a:p>
          <a:p>
            <a:pPr>
              <a:buFont typeface="Arial" panose="020B0604020202020204" pitchFamily="34" charset="0"/>
              <a:buChar char="•"/>
            </a:pPr>
            <a:r>
              <a:rPr lang="en-US" sz="2000"/>
              <a:t>Based on the selection, the AI connects the user to nearby doctors, medical stores, or ambulance services.</a:t>
            </a:r>
          </a:p>
          <a:p>
            <a:pPr>
              <a:buFont typeface="Arial" panose="020B0604020202020204" pitchFamily="34" charset="0"/>
              <a:buChar char="•"/>
            </a:pPr>
            <a:endParaRPr lang="en-US" sz="2000"/>
          </a:p>
          <a:p>
            <a:pPr>
              <a:buFont typeface="Arial" panose="020B0604020202020204" pitchFamily="34" charset="0"/>
              <a:buChar char="•"/>
            </a:pPr>
            <a:r>
              <a:rPr lang="en-US" sz="2000"/>
              <a:t>This also become future startup idea</a:t>
            </a:r>
          </a:p>
        </p:txBody>
      </p:sp>
    </p:spTree>
    <p:extLst>
      <p:ext uri="{BB962C8B-B14F-4D97-AF65-F5344CB8AC3E}">
        <p14:creationId xmlns:p14="http://schemas.microsoft.com/office/powerpoint/2010/main" val="1686412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9738CA-3760-44CD-6B85-8464E4F70E22}"/>
              </a:ext>
            </a:extLst>
          </p:cNvPr>
          <p:cNvSpPr txBox="1"/>
          <p:nvPr/>
        </p:nvSpPr>
        <p:spPr>
          <a:xfrm>
            <a:off x="4220307" y="475179"/>
            <a:ext cx="7857811" cy="5432256"/>
          </a:xfrm>
          <a:prstGeom prst="rect">
            <a:avLst/>
          </a:prstGeom>
          <a:noFill/>
        </p:spPr>
        <p:txBody>
          <a:bodyPr wrap="square">
            <a:spAutoFit/>
          </a:bodyPr>
          <a:lstStyle/>
          <a:p>
            <a:pPr>
              <a:buNone/>
            </a:pPr>
            <a:r>
              <a:rPr lang="en-US" sz="2500" b="1">
                <a:solidFill>
                  <a:schemeClr val="bg1"/>
                </a:solidFill>
              </a:rPr>
              <a:t>U5 – User Problem (Ambulance Navigation)</a:t>
            </a:r>
          </a:p>
          <a:p>
            <a:pPr>
              <a:buNone/>
            </a:pPr>
            <a:endParaRPr lang="en-US" sz="2300" b="1">
              <a:solidFill>
                <a:schemeClr val="bg1"/>
              </a:solidFill>
            </a:endParaRPr>
          </a:p>
          <a:p>
            <a:pPr>
              <a:buFont typeface="Arial" panose="020B0604020202020204" pitchFamily="34" charset="0"/>
              <a:buChar char="•"/>
            </a:pPr>
            <a:r>
              <a:rPr lang="en-US" sz="2300"/>
              <a:t>In emergency situations, ambulance drivers sometimes do not know the best route to the hospital.</a:t>
            </a:r>
          </a:p>
          <a:p>
            <a:pPr>
              <a:buFont typeface="Arial" panose="020B0604020202020204" pitchFamily="34" charset="0"/>
              <a:buChar char="•"/>
            </a:pPr>
            <a:endParaRPr lang="en-US" sz="2300"/>
          </a:p>
          <a:p>
            <a:pPr>
              <a:buFont typeface="Arial" panose="020B0604020202020204" pitchFamily="34" charset="0"/>
              <a:buChar char="•"/>
            </a:pPr>
            <a:r>
              <a:rPr lang="en-US" sz="2300"/>
              <a:t>Some roads may be damaged, blocked, or have heavy traffic.</a:t>
            </a:r>
          </a:p>
          <a:p>
            <a:pPr>
              <a:buFont typeface="Arial" panose="020B0604020202020204" pitchFamily="34" charset="0"/>
              <a:buChar char="•"/>
            </a:pPr>
            <a:endParaRPr lang="en-US" sz="2300"/>
          </a:p>
          <a:p>
            <a:pPr>
              <a:buFont typeface="Arial" panose="020B0604020202020204" pitchFamily="34" charset="0"/>
              <a:buChar char="•"/>
            </a:pPr>
            <a:r>
              <a:rPr lang="en-US" sz="2300"/>
              <a:t>This problem happens in both cities and rural areas.</a:t>
            </a:r>
          </a:p>
          <a:p>
            <a:pPr>
              <a:buFont typeface="Arial" panose="020B0604020202020204" pitchFamily="34" charset="0"/>
              <a:buChar char="•"/>
            </a:pPr>
            <a:endParaRPr lang="en-US" sz="2300"/>
          </a:p>
          <a:p>
            <a:pPr>
              <a:buFont typeface="Arial" panose="020B0604020202020204" pitchFamily="34" charset="0"/>
              <a:buChar char="•"/>
            </a:pPr>
            <a:r>
              <a:rPr lang="en-US" sz="2300"/>
              <a:t>Drivers can get confused and lose valuable time during critical emergencies.</a:t>
            </a:r>
          </a:p>
          <a:p>
            <a:pPr>
              <a:buFont typeface="Arial" panose="020B0604020202020204" pitchFamily="34" charset="0"/>
              <a:buChar char="•"/>
            </a:pPr>
            <a:endParaRPr lang="en-US" sz="2300"/>
          </a:p>
          <a:p>
            <a:pPr>
              <a:buFont typeface="Arial" panose="020B0604020202020204" pitchFamily="34" charset="0"/>
              <a:buChar char="•"/>
            </a:pPr>
            <a:r>
              <a:rPr lang="en-US" sz="2300"/>
              <a:t>Delays in reaching the hospital can put the patient’s life at risk</a:t>
            </a:r>
            <a:r>
              <a:rPr lang="en-US" sz="2000"/>
              <a:t>.</a:t>
            </a:r>
          </a:p>
        </p:txBody>
      </p:sp>
      <p:pic>
        <p:nvPicPr>
          <p:cNvPr id="5" name="Picture 4">
            <a:extLst>
              <a:ext uri="{FF2B5EF4-FFF2-40B4-BE49-F238E27FC236}">
                <a16:creationId xmlns:a16="http://schemas.microsoft.com/office/drawing/2014/main" id="{2318D6A0-D12D-C9F0-5AF3-592F0A00F2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581"/>
            <a:ext cx="4220307" cy="6804837"/>
          </a:xfrm>
          <a:prstGeom prst="rect">
            <a:avLst/>
          </a:prstGeom>
        </p:spPr>
      </p:pic>
    </p:spTree>
    <p:extLst>
      <p:ext uri="{BB962C8B-B14F-4D97-AF65-F5344CB8AC3E}">
        <p14:creationId xmlns:p14="http://schemas.microsoft.com/office/powerpoint/2010/main" val="2486201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313B1D8-9BA5-DC5E-C9B5-CA88CD90EDB8}"/>
              </a:ext>
            </a:extLst>
          </p:cNvPr>
          <p:cNvSpPr txBox="1"/>
          <p:nvPr/>
        </p:nvSpPr>
        <p:spPr>
          <a:xfrm>
            <a:off x="194269" y="105068"/>
            <a:ext cx="11743173" cy="6863417"/>
          </a:xfrm>
          <a:prstGeom prst="rect">
            <a:avLst/>
          </a:prstGeom>
          <a:noFill/>
        </p:spPr>
        <p:txBody>
          <a:bodyPr wrap="square">
            <a:spAutoFit/>
          </a:bodyPr>
          <a:lstStyle/>
          <a:p>
            <a:pPr>
              <a:buNone/>
            </a:pPr>
            <a:r>
              <a:rPr lang="en-US" sz="2500" b="1">
                <a:solidFill>
                  <a:schemeClr val="bg1"/>
                </a:solidFill>
              </a:rPr>
              <a:t>U5 – Solution</a:t>
            </a:r>
          </a:p>
          <a:p>
            <a:pPr>
              <a:buNone/>
            </a:pPr>
            <a:endParaRPr lang="en-US" sz="2500" b="1">
              <a:solidFill>
                <a:schemeClr val="bg1"/>
              </a:solidFill>
            </a:endParaRPr>
          </a:p>
          <a:p>
            <a:pPr>
              <a:buFont typeface="Arial" panose="020B0604020202020204" pitchFamily="34" charset="0"/>
              <a:buChar char="•"/>
            </a:pPr>
            <a:r>
              <a:rPr lang="en-US" sz="2000"/>
              <a:t>The system provides </a:t>
            </a:r>
            <a:r>
              <a:rPr lang="en-US" sz="2000" b="1"/>
              <a:t>smart navigation for ambulances</a:t>
            </a:r>
            <a:r>
              <a:rPr lang="en-US" sz="2000"/>
              <a:t>, similar to Google Maps.</a:t>
            </a:r>
          </a:p>
          <a:p>
            <a:pPr>
              <a:buFont typeface="Arial" panose="020B0604020202020204" pitchFamily="34" charset="0"/>
              <a:buChar char="•"/>
            </a:pPr>
            <a:endParaRPr lang="en-US" sz="2000"/>
          </a:p>
          <a:p>
            <a:pPr>
              <a:buFont typeface="Arial" panose="020B0604020202020204" pitchFamily="34" charset="0"/>
              <a:buChar char="•"/>
            </a:pPr>
            <a:r>
              <a:rPr lang="en-US" sz="2000"/>
              <a:t>It suggests the </a:t>
            </a:r>
            <a:r>
              <a:rPr lang="en-US" sz="2000" b="1"/>
              <a:t>fastest and safest route to the hospital</a:t>
            </a:r>
            <a:r>
              <a:rPr lang="en-US" sz="2000"/>
              <a:t>.</a:t>
            </a:r>
          </a:p>
          <a:p>
            <a:pPr>
              <a:buFont typeface="Arial" panose="020B0604020202020204" pitchFamily="34" charset="0"/>
              <a:buChar char="•"/>
            </a:pPr>
            <a:endParaRPr lang="en-US" sz="2000"/>
          </a:p>
          <a:p>
            <a:pPr>
              <a:buFont typeface="Arial" panose="020B0604020202020204" pitchFamily="34" charset="0"/>
              <a:buChar char="•"/>
            </a:pPr>
            <a:r>
              <a:rPr lang="en-US" sz="2000"/>
              <a:t>The system detects </a:t>
            </a:r>
            <a:r>
              <a:rPr lang="en-US" sz="2000" b="1"/>
              <a:t>damaged roads or blocked routes</a:t>
            </a:r>
            <a:r>
              <a:rPr lang="en-US" sz="2000"/>
              <a:t> and avoids them.</a:t>
            </a:r>
          </a:p>
          <a:p>
            <a:pPr>
              <a:buFont typeface="Arial" panose="020B0604020202020204" pitchFamily="34" charset="0"/>
              <a:buChar char="•"/>
            </a:pPr>
            <a:endParaRPr lang="en-US" sz="2000"/>
          </a:p>
          <a:p>
            <a:pPr>
              <a:buFont typeface="Arial" panose="020B0604020202020204" pitchFamily="34" charset="0"/>
              <a:buChar char="•"/>
            </a:pPr>
            <a:r>
              <a:rPr lang="en-US" sz="2000"/>
              <a:t>It provides </a:t>
            </a:r>
            <a:r>
              <a:rPr lang="en-US" sz="2000" b="1"/>
              <a:t>voice guidance</a:t>
            </a:r>
            <a:r>
              <a:rPr lang="en-US" sz="2000"/>
              <a:t> to help the ambulance driver follow the correct path.</a:t>
            </a:r>
          </a:p>
          <a:p>
            <a:pPr>
              <a:buFont typeface="Arial" panose="020B0604020202020204" pitchFamily="34" charset="0"/>
              <a:buChar char="•"/>
            </a:pPr>
            <a:endParaRPr lang="en-US" sz="2000"/>
          </a:p>
          <a:p>
            <a:pPr>
              <a:buFont typeface="Arial" panose="020B0604020202020204" pitchFamily="34" charset="0"/>
              <a:buChar char="•"/>
            </a:pPr>
            <a:r>
              <a:rPr lang="en-US" sz="2000"/>
              <a:t>The app can also </a:t>
            </a:r>
            <a:r>
              <a:rPr lang="en-US" sz="2000" b="1"/>
              <a:t>show images or alerts of damaged roads</a:t>
            </a:r>
            <a:r>
              <a:rPr lang="en-US" sz="2000"/>
              <a:t> to warn drivers in advance.</a:t>
            </a:r>
          </a:p>
          <a:p>
            <a:pPr>
              <a:buNone/>
            </a:pPr>
            <a:br>
              <a:rPr lang="en-US" sz="2000"/>
            </a:br>
            <a:endParaRPr lang="en-US" sz="2000"/>
          </a:p>
          <a:p>
            <a:pPr>
              <a:buNone/>
            </a:pPr>
            <a:r>
              <a:rPr lang="en-US" sz="2500" b="1">
                <a:solidFill>
                  <a:schemeClr val="bg1"/>
                </a:solidFill>
              </a:rPr>
              <a:t>Future Startup Feature </a:t>
            </a:r>
          </a:p>
          <a:p>
            <a:pPr>
              <a:buNone/>
            </a:pPr>
            <a:endParaRPr lang="en-US" sz="2500" b="1"/>
          </a:p>
          <a:p>
            <a:pPr>
              <a:buNone/>
            </a:pPr>
            <a:r>
              <a:rPr lang="en-US" sz="2000"/>
              <a:t>Users and drivers can </a:t>
            </a:r>
            <a:r>
              <a:rPr lang="en-US" sz="2000" b="1"/>
              <a:t>report damaged roads</a:t>
            </a:r>
            <a:r>
              <a:rPr lang="en-US" sz="2000"/>
              <a:t> by uploading photos.</a:t>
            </a:r>
          </a:p>
          <a:p>
            <a:pPr>
              <a:buNone/>
            </a:pPr>
            <a:endParaRPr lang="en-US" sz="2000"/>
          </a:p>
          <a:p>
            <a:pPr>
              <a:buFont typeface="Arial" panose="020B0604020202020204" pitchFamily="34" charset="0"/>
              <a:buChar char="•"/>
            </a:pPr>
            <a:r>
              <a:rPr lang="en-US" sz="2000"/>
              <a:t>The system updates the map and warns other ambulance drivers.</a:t>
            </a:r>
          </a:p>
          <a:p>
            <a:pPr>
              <a:buFont typeface="Arial" panose="020B0604020202020204" pitchFamily="34" charset="0"/>
              <a:buChar char="•"/>
            </a:pPr>
            <a:r>
              <a:rPr lang="en-US" sz="2000"/>
              <a:t>AI analyzes road conditions and suggests </a:t>
            </a:r>
            <a:r>
              <a:rPr lang="en-US" sz="2000" b="1"/>
              <a:t>safer emergency routes</a:t>
            </a:r>
            <a:r>
              <a:rPr lang="en-US" sz="2000"/>
              <a:t>.</a:t>
            </a:r>
          </a:p>
          <a:p>
            <a:pPr>
              <a:buFont typeface="Arial" panose="020B0604020202020204" pitchFamily="34" charset="0"/>
              <a:buChar char="•"/>
            </a:pPr>
            <a:r>
              <a:rPr lang="en-US" sz="2000"/>
              <a:t>This can become a </a:t>
            </a:r>
            <a:r>
              <a:rPr lang="en-US" sz="2000" b="1"/>
              <a:t>smart emergency navigation platform for ambulances and emergency vehicles</a:t>
            </a:r>
            <a:r>
              <a:rPr lang="en-US" sz="2000"/>
              <a:t>.</a:t>
            </a:r>
          </a:p>
        </p:txBody>
      </p:sp>
    </p:spTree>
    <p:extLst>
      <p:ext uri="{BB962C8B-B14F-4D97-AF65-F5344CB8AC3E}">
        <p14:creationId xmlns:p14="http://schemas.microsoft.com/office/powerpoint/2010/main" val="1685983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C2036-9BA2-A92A-FD2C-6F23FFB35ED1}"/>
              </a:ext>
            </a:extLst>
          </p:cNvPr>
          <p:cNvSpPr>
            <a:spLocks noGrp="1"/>
          </p:cNvSpPr>
          <p:nvPr>
            <p:ph type="title"/>
          </p:nvPr>
        </p:nvSpPr>
        <p:spPr>
          <a:xfrm>
            <a:off x="181793" y="2117132"/>
            <a:ext cx="8534401" cy="1218921"/>
          </a:xfrm>
        </p:spPr>
        <p:txBody>
          <a:bodyPr>
            <a:normAutofit/>
          </a:bodyPr>
          <a:lstStyle/>
          <a:p>
            <a:r>
              <a:rPr lang="en-US" sz="5000" i="1" u="sng">
                <a:solidFill>
                  <a:schemeClr val="bg1"/>
                </a:solidFill>
              </a:rPr>
              <a:t>Thank you </a:t>
            </a:r>
            <a:endParaRPr lang="en-IN" sz="5000" i="1" u="sng">
              <a:solidFill>
                <a:schemeClr val="bg1"/>
              </a:solidFill>
            </a:endParaRPr>
          </a:p>
        </p:txBody>
      </p:sp>
      <p:sp>
        <p:nvSpPr>
          <p:cNvPr id="3" name="Text Placeholder 2">
            <a:extLst>
              <a:ext uri="{FF2B5EF4-FFF2-40B4-BE49-F238E27FC236}">
                <a16:creationId xmlns:a16="http://schemas.microsoft.com/office/drawing/2014/main" id="{A633C104-2DFE-EDA8-F241-C3F3C41AFE58}"/>
              </a:ext>
            </a:extLst>
          </p:cNvPr>
          <p:cNvSpPr>
            <a:spLocks noGrp="1"/>
          </p:cNvSpPr>
          <p:nvPr>
            <p:ph type="body" idx="1"/>
          </p:nvPr>
        </p:nvSpPr>
        <p:spPr>
          <a:xfrm>
            <a:off x="1" y="3928905"/>
            <a:ext cx="5116286" cy="2095640"/>
          </a:xfrm>
        </p:spPr>
        <p:txBody>
          <a:bodyPr>
            <a:normAutofit/>
          </a:bodyPr>
          <a:lstStyle/>
          <a:p>
            <a:r>
              <a:rPr lang="en-US" sz="2500" b="1">
                <a:solidFill>
                  <a:schemeClr val="bg1"/>
                </a:solidFill>
              </a:rPr>
              <a:t>This ppt is make future startup production and  improve the health domain sides </a:t>
            </a:r>
            <a:endParaRPr lang="en-IN" sz="2500" b="1">
              <a:solidFill>
                <a:schemeClr val="bg1"/>
              </a:solidFill>
            </a:endParaRPr>
          </a:p>
        </p:txBody>
      </p:sp>
      <p:pic>
        <p:nvPicPr>
          <p:cNvPr id="5" name="Picture 4">
            <a:extLst>
              <a:ext uri="{FF2B5EF4-FFF2-40B4-BE49-F238E27FC236}">
                <a16:creationId xmlns:a16="http://schemas.microsoft.com/office/drawing/2014/main" id="{8E886E87-D597-4636-44D0-8374C1F355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6285" y="0"/>
            <a:ext cx="7184571" cy="6858000"/>
          </a:xfrm>
          <a:prstGeom prst="rect">
            <a:avLst/>
          </a:prstGeom>
        </p:spPr>
      </p:pic>
    </p:spTree>
    <p:extLst>
      <p:ext uri="{BB962C8B-B14F-4D97-AF65-F5344CB8AC3E}">
        <p14:creationId xmlns:p14="http://schemas.microsoft.com/office/powerpoint/2010/main" val="1959681205"/>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0</TotalTime>
  <Words>1747</Words>
  <Application>Microsoft Office PowerPoint</Application>
  <PresentationFormat>Widescreen</PresentationFormat>
  <Paragraphs>236</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Slice</vt:lpstr>
      <vt:lpstr>Lifeline AI  Unified Emergency &amp; Healthcare Network</vt:lpstr>
      <vt:lpstr>Name : Shaan Bellary   skills :  python, Django, java, Data         structure. Gen ai   education : BCA   ACHIEVEMENTS :  Winner – national level IT - Fest (Context fusion).</vt:lpstr>
      <vt:lpstr>Problem Statement:  In emergency and critical health situations, people often waste valuable time searching for nearby hospitals, medical stores and Medison's, or ambulance services. This problem is more severe in rural areas where healthcare access is limited and information is unclear. The lack of a unified healthcare platform leads to delays, confusion, and increased health risks in rural areas same people don’t have smart phone this problem in rural so  this software solve this mention user problem and solution page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Lifeline AI  Unified Emergency &amp; Healthcare Network</dc:title>
  <dc:creator>naveen galennaver</dc:creator>
  <cp:lastModifiedBy>naveen galennaver</cp:lastModifiedBy>
  <cp:revision>4</cp:revision>
  <dcterms:created xsi:type="dcterms:W3CDTF">2026-03-03T12:38:53Z</dcterms:created>
  <dcterms:modified xsi:type="dcterms:W3CDTF">2026-03-08T17:10:49Z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494391</vt:lpwstr>
  </property>
  <property fmtid="{D5CDD505-2E9C-101B-9397-08002B2CF9AE}" name="NXPowerLiteSettings" pid="3">
    <vt:lpwstr>F7000400038000</vt:lpwstr>
  </property>
  <property fmtid="{D5CDD505-2E9C-101B-9397-08002B2CF9AE}" name="NXPowerLiteVersion" pid="4">
    <vt:lpwstr>S10.9.5</vt:lpwstr>
  </property>
</Properties>
</file>