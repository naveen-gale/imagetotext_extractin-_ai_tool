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simple%20split-screen%20graph" ContentType="image/simple%20split-screen%20graph"/>
  <Default Extension="a%20simple%20image%20of%20a%20dice%20with%20a%20basic%20table" ContentType="image/a%20simple%20image%20of%20a%20dice%20with%20a%20basic%20table"/>
  <Default Extension="simple%20balance%20scale%20with%20expected%20and%20observed%20values" ContentType="image/simple%20balance%20scale%20with%20expected%20and%20observed%20values"/>
  <Default Extension="a%20simple%20illustration%20of%20a%20fair%20six-sided%20dice" ContentType="image/a%20simple%20illustration%20of%20a%20fair%20six-sided%20dice"/>
  <Default Extension="a%20detailed%20illustration%20of%20a%20chi-square%20distribution%20curve%20with%20observed%20and%20expected%20frequency%20tables" ContentType="image/a%20detailed%20illustration%20of%20a%20chi-square%20distribution%20curve%20with%20observed%20and%20expected%20frequency%20tables"/>
  <Default Extension="a%20detailed%20illustration%20of%20a%20dice%20roll%20with%20observed%20and%20expected%20frequencies%20annotated" ContentType="image/a%20detailed%20illustration%20of%20a%20dice%20roll%20with%20observed%20and%20expected%20frequencies%20annotated"/>
  <Default Extension="a%20split-screen%20image%20of%20a%20fair%20dice%20and%20a%20biased%20dice%2c%20with%20a%20statistical%20formula%20in%20the%20background" ContentType="image/a%20split-screen%20image%20of%20a%20fair%20dice%20and%20a%20biased%20dice%2c%20with%20a%20statistical%20formula%20in%20the%20background"/>
  <Default Extension="a%20detailed%20illustration%20of%20the%20chi-square%20distribution%20curve%20with%20critical%20regions%20marked" ContentType="image/a%20detailed%20illustration%20of%20the%20chi-square%20distribution%20curve%20with%20critical%20regions%20marked"/>
  <Default Extension="statistician%20with%20data" ContentType="image/statistician%20with%20data"/>
  <Default Extension="simple%20chi-square%20distribution%20curve" ContentType="image/simple%20chi-square%20distribution%20curve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deviations between expected and actual results.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expected vs observed frequencies using the dice roll example.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key idea is the Chi-Square test foundation.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Fairness is about equal chance. It's crucial in statistics and real-life applications.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Chi-Square test compares observed and expected data to determine significant differences.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Chi-Square formula importance.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this slide, explain how the Chi-Square formula is applied to the dice roll example, highlighting the step-by-step calculation of the χ² value. Emphasize the importance of understanding the differences between observed and expected frequencies.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a hypothesis is a statement tested using stats. Null and alternative hypotheses help interpret test results.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Degrees of freedom is key in Chi-Square tests.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decision rule helps interpret Chi-Square test results. Choose a suitable level.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decision rule. Compare χ² to table value to see if dice is fair.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Chi-Square test result importance. Emphasize p-value.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Goodness of fit checks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Chi-Square test steps. Each step leads to the next. Understand the flow to interpret results.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Chi-Square test is used in many areas.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tool calculates Chi-Square. It compares observed and expected values. The results help make informed decisions.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Chi-Square: vital in statistics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simple%20split-screen%20graph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a%20simple%20image%20of%20a%20dice%20with%20a%20basic%20table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simple%20balance%20scale%20with%20expected%20and%20observed%20values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a%20simple%20illustration%20of%20a%20fair%20six-sided%20dice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a%20detailed%20illustration%20of%20a%20chi-square%20distribution%20curve%20with%20observed%20and%20expected%20frequency%20tables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a%20detailed%20illustration%20of%20a%20dice%20roll%20with%20observed%20and%20expected%20frequencies%20annotated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a%20split-screen%20image%20of%20a%20fair%20dice%20and%20a%20biased%20dice%2c%20with%20a%20statistical%20formula%20in%20the%20background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a%20detailed%20illustration%20of%20the%20chi-square%20distribution%20curve%20with%20critical%20regions%20marked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statistician%20with%20data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simple%20chi-square%20distribution%20curve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38BD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38BD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74552" y="6473952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961120" y="-731520"/>
            <a:ext cx="4114800" cy="4114800"/>
          </a:xfrm>
          <a:prstGeom prst="ellipse">
            <a:avLst/>
          </a:prstGeom>
          <a:solidFill>
            <a:srgbClr val="38BDF8">
              <a:alpha val="12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828800"/>
            <a:ext cx="9144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200" b="1" spc="-50" kern="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Chi-Square Distribution &amp; Goodness of Fit</a:t>
            </a:r>
            <a:endParaRPr lang="en-US" sz="5200" dirty="0"/>
          </a:p>
        </p:txBody>
      </p:sp>
      <p:sp>
        <p:nvSpPr>
          <p:cNvPr id="7" name="Shape 5"/>
          <p:cNvSpPr/>
          <p:nvPr/>
        </p:nvSpPr>
        <p:spPr>
          <a:xfrm>
            <a:off x="731520" y="3749040"/>
            <a:ext cx="1828800" cy="64008"/>
          </a:xfrm>
          <a:prstGeom prst="rect">
            <a:avLst/>
          </a:prstGeom>
          <a:solidFill>
            <a:srgbClr val="38BD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39776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Analysis for Evaluating Conformity to Expected Distributions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445752" y="63550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VisionText AI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38BD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38BD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74552" y="6473952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56032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spc="5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Problem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74552" cy="0"/>
          </a:xfrm>
          <a:prstGeom prst="line">
            <a:avLst/>
          </a:prstGeom>
          <a:noFill/>
          <a:ln w="19050">
            <a:solidFill>
              <a:srgbClr val="38BDF8">
                <a:alpha val="6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71600"/>
            <a:ext cx="71323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ts val="2160"/>
              </a:lnSpc>
              <a:spcBef>
                <a:spcPts val="1300"/>
              </a:spcBef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deviate from expectations</a:t>
            </a:r>
            <a:endParaRPr lang="en-US" sz="1800" dirty="0"/>
          </a:p>
          <a:p>
            <a:pPr>
              <a:lnSpc>
                <a:spcPts val="2160"/>
              </a:lnSpc>
              <a:spcBef>
                <a:spcPts val="1300"/>
              </a:spcBef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Difference raises questions</a:t>
            </a:r>
            <a:endParaRPr lang="en-US" sz="1800" dirty="0"/>
          </a:p>
          <a:p>
            <a:pPr>
              <a:lnSpc>
                <a:spcPts val="2160"/>
              </a:lnSpc>
              <a:spcBef>
                <a:spcPts val="1300"/>
              </a:spcBef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to assess difference</a:t>
            </a:r>
            <a:endParaRPr lang="en-US" sz="1800" dirty="0"/>
          </a:p>
          <a:p>
            <a:pPr>
              <a:lnSpc>
                <a:spcPts val="2160"/>
              </a:lnSpc>
              <a:spcBef>
                <a:spcPts val="1300"/>
              </a:spcBef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method is crucial</a:t>
            </a:r>
            <a:endParaRPr lang="en-US" sz="1800" dirty="0"/>
          </a:p>
          <a:p>
            <a:pPr>
              <a:lnSpc>
                <a:spcPts val="2160"/>
              </a:lnSpc>
              <a:spcBef>
                <a:spcPts val="1300"/>
              </a:spcBef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 results accurately</a:t>
            </a:r>
            <a:endParaRPr lang="en-US" sz="1800" dirty="0"/>
          </a:p>
        </p:txBody>
      </p:sp>
      <p:pic>
        <p:nvPicPr>
          <p:cNvPr id="8" name="Image 0" descr="https://image.pollinations.ai/prompt/simple%20split-screen%20graph?width=800&amp;height=600&amp;seed=413767&amp;model=flux&amp;nologo=tr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1371600"/>
            <a:ext cx="4114800" cy="5120640"/>
          </a:xfrm>
          <a:prstGeom prst="ellipse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38BD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38BD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74552" y="6473952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56032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spc="5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Dice Roll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74552" cy="0"/>
          </a:xfrm>
          <a:prstGeom prst="line">
            <a:avLst/>
          </a:prstGeom>
          <a:noFill/>
          <a:ln w="19050">
            <a:solidFill>
              <a:srgbClr val="38BDF8">
                <a:alpha val="6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71600"/>
            <a:ext cx="71323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ts val="2160"/>
              </a:lnSpc>
              <a:spcBef>
                <a:spcPts val="1300"/>
              </a:spcBef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a dice 60 times.</a:t>
            </a:r>
            <a:endParaRPr lang="en-US" sz="1800" dirty="0"/>
          </a:p>
          <a:p>
            <a:pPr>
              <a:lnSpc>
                <a:spcPts val="2160"/>
              </a:lnSpc>
              <a:spcBef>
                <a:spcPts val="1300"/>
              </a:spcBef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expected and observed frequencies.</a:t>
            </a:r>
            <a:endParaRPr lang="en-US" sz="1800" dirty="0"/>
          </a:p>
          <a:p>
            <a:pPr>
              <a:lnSpc>
                <a:spcPts val="2160"/>
              </a:lnSpc>
              <a:spcBef>
                <a:spcPts val="1300"/>
              </a:spcBef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Determine if the dice is fair or biased.</a:t>
            </a:r>
            <a:endParaRPr lang="en-US" sz="1800" dirty="0"/>
          </a:p>
          <a:p>
            <a:pPr>
              <a:lnSpc>
                <a:spcPts val="2160"/>
              </a:lnSpc>
              <a:spcBef>
                <a:spcPts val="1300"/>
              </a:spcBef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(if fair):</a:t>
            </a:r>
            <a:endParaRPr lang="en-US" sz="1800" dirty="0"/>
          </a:p>
          <a:p>
            <a:pPr>
              <a:lnSpc>
                <a:spcPts val="2160"/>
              </a:lnSpc>
              <a:spcBef>
                <a:spcPts val="1300"/>
              </a:spcBef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10, 10, 10, 10, 10, 10</a:t>
            </a:r>
            <a:endParaRPr lang="en-US" sz="1800" dirty="0"/>
          </a:p>
          <a:p>
            <a:pPr>
              <a:lnSpc>
                <a:spcPts val="2160"/>
              </a:lnSpc>
              <a:spcBef>
                <a:spcPts val="1300"/>
              </a:spcBef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 (actual):</a:t>
            </a:r>
            <a:endParaRPr lang="en-US" sz="1800" dirty="0"/>
          </a:p>
          <a:p>
            <a:pPr>
              <a:lnSpc>
                <a:spcPts val="2160"/>
              </a:lnSpc>
              <a:spcBef>
                <a:spcPts val="1300"/>
              </a:spcBef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8, 12, 9, 11, 10, 10</a:t>
            </a:r>
            <a:endParaRPr lang="en-US" sz="1800" dirty="0"/>
          </a:p>
        </p:txBody>
      </p:sp>
      <p:pic>
        <p:nvPicPr>
          <p:cNvPr id="8" name="Image 0" descr="https://image.pollinations.ai/prompt/a%20simple%20image%20of%20a%20dice%20with%20a%20basic%20table?width=800&amp;height=600&amp;seed=776709&amp;model=flux&amp;nologo=tr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1371600"/>
            <a:ext cx="4114800" cy="5120640"/>
          </a:xfrm>
          <a:prstGeom prst="ellipse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38BD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38BD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74552" y="6473952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56032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spc="5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74552" cy="0"/>
          </a:xfrm>
          <a:prstGeom prst="line">
            <a:avLst/>
          </a:prstGeom>
          <a:noFill/>
          <a:ln w="19050">
            <a:solidFill>
              <a:srgbClr val="38BDF8">
                <a:alpha val="6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71600"/>
            <a:ext cx="71323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ts val="2160"/>
              </a:lnSpc>
              <a:spcBef>
                <a:spcPts val="1300"/>
              </a:spcBef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expected and observed</a:t>
            </a:r>
            <a:endParaRPr lang="en-US" sz="1800" dirty="0"/>
          </a:p>
          <a:p>
            <a:pPr>
              <a:lnSpc>
                <a:spcPts val="2160"/>
              </a:lnSpc>
              <a:spcBef>
                <a:spcPts val="1300"/>
              </a:spcBef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 values are normal</a:t>
            </a:r>
            <a:endParaRPr lang="en-US" sz="1800" dirty="0"/>
          </a:p>
          <a:p>
            <a:pPr>
              <a:lnSpc>
                <a:spcPts val="2160"/>
              </a:lnSpc>
              <a:spcBef>
                <a:spcPts val="1300"/>
              </a:spcBef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differences indicate a problem</a:t>
            </a:r>
            <a:endParaRPr lang="en-US" sz="1800" dirty="0"/>
          </a:p>
        </p:txBody>
      </p:sp>
      <p:pic>
        <p:nvPicPr>
          <p:cNvPr id="8" name="Image 0" descr="https://image.pollinations.ai/prompt/simple%20balance%20scale%20with%20expected%20and%20observed%20values?width=800&amp;height=600&amp;seed=958578&amp;model=flux&amp;nologo=tr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1371600"/>
            <a:ext cx="4114800" cy="5120640"/>
          </a:xfrm>
          <a:prstGeom prst="ellipse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38BD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38BD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74552" y="6473952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56032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spc="5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 of Fair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74552" cy="0"/>
          </a:xfrm>
          <a:prstGeom prst="line">
            <a:avLst/>
          </a:prstGeom>
          <a:noFill/>
          <a:ln w="19050">
            <a:solidFill>
              <a:srgbClr val="38BDF8">
                <a:alpha val="6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71600"/>
            <a:ext cx="71323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ts val="2160"/>
              </a:lnSpc>
              <a:spcBef>
                <a:spcPts val="1300"/>
              </a:spcBef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 means equal chance.</a:t>
            </a:r>
            <a:endParaRPr lang="en-US" sz="1800" dirty="0"/>
          </a:p>
          <a:p>
            <a:pPr>
              <a:lnSpc>
                <a:spcPts val="2160"/>
              </a:lnSpc>
              <a:spcBef>
                <a:spcPts val="1300"/>
              </a:spcBef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outcome has same probability.</a:t>
            </a:r>
            <a:endParaRPr lang="en-US" sz="1800" dirty="0"/>
          </a:p>
          <a:p>
            <a:pPr>
              <a:lnSpc>
                <a:spcPts val="2160"/>
              </a:lnSpc>
              <a:spcBef>
                <a:spcPts val="1300"/>
              </a:spcBef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 is key in statistics.</a:t>
            </a:r>
            <a:endParaRPr lang="en-US" sz="1800" dirty="0"/>
          </a:p>
          <a:p>
            <a:pPr>
              <a:lnSpc>
                <a:spcPts val="2160"/>
              </a:lnSpc>
              <a:spcBef>
                <a:spcPts val="1300"/>
              </a:spcBef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 matters in real life.</a:t>
            </a:r>
            <a:endParaRPr lang="en-US" sz="1800" dirty="0"/>
          </a:p>
          <a:p>
            <a:pPr>
              <a:lnSpc>
                <a:spcPts val="2160"/>
              </a:lnSpc>
              <a:spcBef>
                <a:spcPts val="1300"/>
              </a:spcBef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Games, elections need fairness.</a:t>
            </a:r>
            <a:endParaRPr lang="en-US" sz="1800" dirty="0"/>
          </a:p>
        </p:txBody>
      </p:sp>
      <p:pic>
        <p:nvPicPr>
          <p:cNvPr id="8" name="Image 0" descr="https://image.pollinations.ai/prompt/a%20simple%20illustration%20of%20a%20fair%20six-sided%20dice?width=800&amp;height=600&amp;seed=698776&amp;model=flux&amp;nologo=tr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1371600"/>
            <a:ext cx="4114800" cy="5120640"/>
          </a:xfrm>
          <a:prstGeom prst="ellipse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38BD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38BD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74552" y="6473952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56032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spc="5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Chi-Square Test?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74552" cy="0"/>
          </a:xfrm>
          <a:prstGeom prst="line">
            <a:avLst/>
          </a:prstGeom>
          <a:noFill/>
          <a:ln w="19050">
            <a:solidFill>
              <a:srgbClr val="38BDF8">
                <a:alpha val="6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71600"/>
            <a:ext cx="71323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ts val="2160"/>
              </a:lnSpc>
              <a:spcBef>
                <a:spcPts val="1300"/>
              </a:spcBef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 observed and expected data.</a:t>
            </a:r>
            <a:endParaRPr lang="en-US" sz="1800" dirty="0"/>
          </a:p>
          <a:p>
            <a:pPr>
              <a:lnSpc>
                <a:spcPts val="2160"/>
              </a:lnSpc>
              <a:spcBef>
                <a:spcPts val="1300"/>
              </a:spcBef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frequency differences.</a:t>
            </a:r>
            <a:endParaRPr lang="en-US" sz="1800" dirty="0"/>
          </a:p>
          <a:p>
            <a:pPr>
              <a:lnSpc>
                <a:spcPts val="2160"/>
              </a:lnSpc>
              <a:spcBef>
                <a:spcPts val="1300"/>
              </a:spcBef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associations between variables.</a:t>
            </a:r>
            <a:endParaRPr lang="en-US" sz="1800" dirty="0"/>
          </a:p>
          <a:p>
            <a:pPr>
              <a:lnSpc>
                <a:spcPts val="2160"/>
              </a:lnSpc>
              <a:spcBef>
                <a:spcPts val="1300"/>
              </a:spcBef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Determines if differences are real.</a:t>
            </a:r>
            <a:endParaRPr lang="en-US" sz="1800" dirty="0"/>
          </a:p>
          <a:p>
            <a:pPr>
              <a:lnSpc>
                <a:spcPts val="2160"/>
              </a:lnSpc>
              <a:spcBef>
                <a:spcPts val="1300"/>
              </a:spcBef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Non-parametric test.</a:t>
            </a:r>
            <a:endParaRPr lang="en-US" sz="1800" dirty="0"/>
          </a:p>
        </p:txBody>
      </p:sp>
      <p:pic>
        <p:nvPicPr>
          <p:cNvPr id="8" name="Image 0" descr="https://image.pollinations.ai/prompt/a%20detailed%20illustration%20of%20a%20Chi-Square%20distribution%20curve%20with%20observed%20and%20expected%20frequency%20tables?width=800&amp;height=600&amp;seed=105315&amp;model=flux&amp;nologo=tr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1371600"/>
            <a:ext cx="4114800" cy="5120640"/>
          </a:xfrm>
          <a:prstGeom prst="ellipse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38BD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38BD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74552" y="6473952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56032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spc="5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Chi-Square Formula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74552" cy="0"/>
          </a:xfrm>
          <a:prstGeom prst="line">
            <a:avLst/>
          </a:prstGeom>
          <a:noFill/>
          <a:ln w="19050">
            <a:solidFill>
              <a:srgbClr val="38BDF8">
                <a:alpha val="6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463040"/>
            <a:ext cx="10972800" cy="4754880"/>
          </a:xfrm>
          <a:prstGeom prst="rect">
            <a:avLst/>
          </a:prstGeom>
          <a:solidFill>
            <a:srgbClr val="38BDF8">
              <a:alpha val="12000"/>
            </a:srgbClr>
          </a:solidFill>
          <a:ln w="12700">
            <a:solidFill>
              <a:srgbClr val="38BDF8">
                <a:alpha val="5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843430"/>
            <a:ext cx="107899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χ² = Σ (O - E)²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548640" y="4315968"/>
            <a:ext cx="10789920" cy="16642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Chi-Square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38BD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38BD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74552" y="6473952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56032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spc="5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Formula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74552" cy="0"/>
          </a:xfrm>
          <a:prstGeom prst="line">
            <a:avLst/>
          </a:prstGeom>
          <a:noFill/>
          <a:ln w="19050">
            <a:solidFill>
              <a:srgbClr val="38BDF8">
                <a:alpha val="6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71600"/>
            <a:ext cx="71323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ts val="2160"/>
              </a:lnSpc>
              <a:spcBef>
                <a:spcPts val="1300"/>
              </a:spcBef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 frequencies: 8, 12, 9, 11, 10, 10</a:t>
            </a:r>
            <a:endParaRPr lang="en-US" sz="1800" dirty="0"/>
          </a:p>
          <a:p>
            <a:pPr>
              <a:lnSpc>
                <a:spcPts val="2160"/>
              </a:lnSpc>
              <a:spcBef>
                <a:spcPts val="1300"/>
              </a:spcBef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frequencies: 10, 10, 10, 10, 10, 10</a:t>
            </a:r>
            <a:endParaRPr lang="en-US" sz="1800" dirty="0"/>
          </a:p>
          <a:p>
            <a:pPr>
              <a:lnSpc>
                <a:spcPts val="2160"/>
              </a:lnSpc>
              <a:spcBef>
                <a:spcPts val="1300"/>
              </a:spcBef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differences and squared differences for each category</a:t>
            </a:r>
            <a:endParaRPr lang="en-US" sz="1800" dirty="0"/>
          </a:p>
          <a:p>
            <a:pPr>
              <a:lnSpc>
                <a:spcPts val="2160"/>
              </a:lnSpc>
              <a:spcBef>
                <a:spcPts val="1300"/>
              </a:spcBef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Chi-Square formula: χ² = Σ (O - E)² / E</a:t>
            </a:r>
            <a:endParaRPr lang="en-US" sz="1800" dirty="0"/>
          </a:p>
        </p:txBody>
      </p:sp>
      <p:pic>
        <p:nvPicPr>
          <p:cNvPr id="8" name="Image 0" descr="https://image.pollinations.ai/prompt/a%20detailed%20illustration%20of%20a%20dice%20roll%20with%20observed%20and%20expected%20frequencies%20annotated?width=800&amp;height=600&amp;seed=332280&amp;model=flux&amp;nologo=tr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1371600"/>
            <a:ext cx="4114800" cy="5120640"/>
          </a:xfrm>
          <a:prstGeom prst="ellipse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38BD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38BD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74552" y="6473952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56032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spc="5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Hypothesis?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74552" cy="0"/>
          </a:xfrm>
          <a:prstGeom prst="line">
            <a:avLst/>
          </a:prstGeom>
          <a:noFill/>
          <a:ln w="19050">
            <a:solidFill>
              <a:srgbClr val="38BDF8">
                <a:alpha val="6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71600"/>
            <a:ext cx="71323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ts val="2160"/>
              </a:lnSpc>
              <a:spcBef>
                <a:spcPts val="1300"/>
              </a:spcBef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Hypothesis: a statement to test.</a:t>
            </a:r>
            <a:endParaRPr lang="en-US" sz="1800" dirty="0"/>
          </a:p>
          <a:p>
            <a:pPr>
              <a:lnSpc>
                <a:spcPts val="2160"/>
              </a:lnSpc>
              <a:spcBef>
                <a:spcPts val="1300"/>
              </a:spcBef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Null: no effect or difference.</a:t>
            </a:r>
            <a:endParaRPr lang="en-US" sz="1800" dirty="0"/>
          </a:p>
          <a:p>
            <a:pPr>
              <a:lnSpc>
                <a:spcPts val="2160"/>
              </a:lnSpc>
              <a:spcBef>
                <a:spcPts val="1300"/>
              </a:spcBef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Alternative: an effect or difference.</a:t>
            </a:r>
            <a:endParaRPr lang="en-US" sz="1800" dirty="0"/>
          </a:p>
          <a:p>
            <a:pPr>
              <a:lnSpc>
                <a:spcPts val="2160"/>
              </a:lnSpc>
              <a:spcBef>
                <a:spcPts val="1300"/>
              </a:spcBef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Hypotheses guide testing.</a:t>
            </a:r>
            <a:endParaRPr lang="en-US" sz="1800" dirty="0"/>
          </a:p>
          <a:p>
            <a:pPr>
              <a:lnSpc>
                <a:spcPts val="2160"/>
              </a:lnSpc>
              <a:spcBef>
                <a:spcPts val="1300"/>
              </a:spcBef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result: accept or reject.</a:t>
            </a:r>
            <a:endParaRPr lang="en-US" sz="1800" dirty="0"/>
          </a:p>
        </p:txBody>
      </p:sp>
      <p:pic>
        <p:nvPicPr>
          <p:cNvPr id="8" name="Image 0" descr="https://image.pollinations.ai/prompt/a%20split-screen%20image%20of%20a%20fair%20dice%20and%20a%20biased%20dice%2C%20with%20a%20statistical%20formula%20in%20the%20background?width=800&amp;height=600&amp;seed=102691&amp;model=flux&amp;nologo=tr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1371600"/>
            <a:ext cx="4114800" cy="5120640"/>
          </a:xfrm>
          <a:prstGeom prst="ellipse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38BD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38BD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74552" y="6473952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56032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spc="5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Degrees of Freedom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74552" cy="0"/>
          </a:xfrm>
          <a:prstGeom prst="line">
            <a:avLst/>
          </a:prstGeom>
          <a:noFill/>
          <a:ln w="19050">
            <a:solidFill>
              <a:srgbClr val="38BDF8">
                <a:alpha val="6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463040"/>
            <a:ext cx="5349240" cy="4754880"/>
          </a:xfrm>
          <a:prstGeom prst="rect">
            <a:avLst/>
          </a:prstGeom>
          <a:solidFill>
            <a:srgbClr val="38BDF8">
              <a:alpha val="12000"/>
            </a:srgbClr>
          </a:solidFill>
          <a:ln w="12700">
            <a:solidFill>
              <a:srgbClr val="38BDF8">
                <a:alpha val="5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843430"/>
            <a:ext cx="51663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 = n - 1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548640" y="4315968"/>
            <a:ext cx="5166360" cy="16642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Degrees of Freedom Formula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080760" y="1463040"/>
            <a:ext cx="5349240" cy="4754880"/>
          </a:xfrm>
          <a:prstGeom prst="rect">
            <a:avLst/>
          </a:prstGeom>
          <a:solidFill>
            <a:srgbClr val="38BDF8">
              <a:alpha val="12000"/>
            </a:srgbClr>
          </a:solidFill>
          <a:ln w="12700">
            <a:solidFill>
              <a:srgbClr val="38BDF8">
                <a:alpha val="5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72200" y="1843430"/>
            <a:ext cx="51663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to 10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6172200" y="4315968"/>
            <a:ext cx="5166360" cy="16642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Degrees of Freedom Range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38BD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38BD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74552" y="6473952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56032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spc="5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Rule for Chi-Square Test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74552" cy="0"/>
          </a:xfrm>
          <a:prstGeom prst="line">
            <a:avLst/>
          </a:prstGeom>
          <a:noFill/>
          <a:ln w="19050">
            <a:solidFill>
              <a:srgbClr val="38BDF8">
                <a:alpha val="6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71600"/>
            <a:ext cx="71323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ts val="2160"/>
              </a:lnSpc>
              <a:spcBef>
                <a:spcPts val="1300"/>
              </a:spcBef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χ² to critical value.</a:t>
            </a:r>
            <a:endParaRPr lang="en-US" sz="1800" dirty="0"/>
          </a:p>
          <a:p>
            <a:pPr>
              <a:lnSpc>
                <a:spcPts val="2160"/>
              </a:lnSpc>
              <a:spcBef>
                <a:spcPts val="1300"/>
              </a:spcBef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χ² &gt; critical: reject fair dice.</a:t>
            </a:r>
            <a:endParaRPr lang="en-US" sz="1800" dirty="0"/>
          </a:p>
          <a:p>
            <a:pPr>
              <a:lnSpc>
                <a:spcPts val="2160"/>
              </a:lnSpc>
              <a:spcBef>
                <a:spcPts val="1300"/>
              </a:spcBef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χ² &lt; critical: keep fair dice.</a:t>
            </a:r>
            <a:endParaRPr lang="en-US" sz="1800" dirty="0"/>
          </a:p>
          <a:p>
            <a:pPr>
              <a:lnSpc>
                <a:spcPts val="2160"/>
              </a:lnSpc>
              <a:spcBef>
                <a:spcPts val="1300"/>
              </a:spcBef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value depends on freedom and level.</a:t>
            </a:r>
            <a:endParaRPr lang="en-US" sz="1800" dirty="0"/>
          </a:p>
          <a:p>
            <a:pPr>
              <a:lnSpc>
                <a:spcPts val="2160"/>
              </a:lnSpc>
              <a:spcBef>
                <a:spcPts val="1300"/>
              </a:spcBef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levels: 0.01, 0.05.</a:t>
            </a:r>
            <a:endParaRPr lang="en-US" sz="1800" dirty="0"/>
          </a:p>
        </p:txBody>
      </p:sp>
      <p:pic>
        <p:nvPicPr>
          <p:cNvPr id="8" name="Image 0" descr="https://image.pollinations.ai/prompt/A%20detailed%20illustration%20of%20the%20Chi-Square%20distribution%20curve%20with%20critical%20regions%20marked?width=800&amp;height=600&amp;seed=101956&amp;model=flux&amp;nologo=tr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1371600"/>
            <a:ext cx="4114800" cy="5120640"/>
          </a:xfrm>
          <a:prstGeom prst="ellipse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38BD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38BD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74552" y="6473952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56032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spc="5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Decision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74552" cy="0"/>
          </a:xfrm>
          <a:prstGeom prst="line">
            <a:avLst/>
          </a:prstGeom>
          <a:noFill/>
          <a:ln w="19050">
            <a:solidFill>
              <a:srgbClr val="38BDF8">
                <a:alpha val="6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71600"/>
            <a:ext cx="112471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ts val="2640"/>
              </a:lnSpc>
              <a:spcBef>
                <a:spcPts val="1500"/>
              </a:spcBef>
            </a:pPr>
            <a:r>
              <a:rPr lang="en-US" sz="2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χ² to table value.</a:t>
            </a:r>
            <a:endParaRPr lang="en-US" sz="2200" dirty="0"/>
          </a:p>
          <a:p>
            <a:pPr>
              <a:lnSpc>
                <a:spcPts val="2640"/>
              </a:lnSpc>
              <a:spcBef>
                <a:spcPts val="1500"/>
              </a:spcBef>
            </a:pPr>
            <a:r>
              <a:rPr lang="en-US" sz="2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χ² &lt; table: dice is fair.</a:t>
            </a:r>
            <a:endParaRPr lang="en-US" sz="2200" dirty="0"/>
          </a:p>
          <a:p>
            <a:pPr>
              <a:lnSpc>
                <a:spcPts val="2640"/>
              </a:lnSpc>
              <a:spcBef>
                <a:spcPts val="1500"/>
              </a:spcBef>
            </a:pPr>
            <a:r>
              <a:rPr lang="en-US" sz="2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χ² &gt; table: dice is not fair.</a:t>
            </a:r>
            <a:endParaRPr lang="en-US" sz="2200" dirty="0"/>
          </a:p>
          <a:p>
            <a:pPr>
              <a:lnSpc>
                <a:spcPts val="2640"/>
              </a:lnSpc>
              <a:spcBef>
                <a:spcPts val="1500"/>
              </a:spcBef>
            </a:pPr>
            <a:r>
              <a:rPr lang="en-US" sz="2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Calculated χ² is 1.0.</a:t>
            </a:r>
            <a:endParaRPr lang="en-US" sz="2200" dirty="0"/>
          </a:p>
          <a:p>
            <a:pPr>
              <a:lnSpc>
                <a:spcPts val="2640"/>
              </a:lnSpc>
              <a:spcBef>
                <a:spcPts val="1500"/>
              </a:spcBef>
            </a:pPr>
            <a:r>
              <a:rPr lang="en-US" sz="2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shows if differences are chance or bias.</a:t>
            </a:r>
            <a:endParaRPr lang="en-US" sz="2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38BD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38BD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74552" y="6473952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56032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spc="5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Interpreting Chi-Square Test Results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74552" cy="0"/>
          </a:xfrm>
          <a:prstGeom prst="line">
            <a:avLst/>
          </a:prstGeom>
          <a:noFill/>
          <a:ln w="19050">
            <a:solidFill>
              <a:srgbClr val="38BDF8">
                <a:alpha val="6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71600"/>
            <a:ext cx="112471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ts val="2640"/>
              </a:lnSpc>
              <a:spcBef>
                <a:spcPts val="1500"/>
              </a:spcBef>
            </a:pPr>
            <a:r>
              <a:rPr lang="en-US" sz="2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Chi-Square: close to expected</a:t>
            </a:r>
            <a:endParaRPr lang="en-US" sz="2200" dirty="0"/>
          </a:p>
          <a:p>
            <a:pPr>
              <a:lnSpc>
                <a:spcPts val="2640"/>
              </a:lnSpc>
              <a:spcBef>
                <a:spcPts val="1500"/>
              </a:spcBef>
            </a:pPr>
            <a:r>
              <a:rPr lang="en-US" sz="2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Chi-Square: significant difference</a:t>
            </a:r>
            <a:endParaRPr lang="en-US" sz="2200" dirty="0"/>
          </a:p>
          <a:p>
            <a:pPr>
              <a:lnSpc>
                <a:spcPts val="2640"/>
              </a:lnSpc>
              <a:spcBef>
                <a:spcPts val="1500"/>
              </a:spcBef>
            </a:pPr>
            <a:r>
              <a:rPr lang="en-US" sz="2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shows chance or real effect</a:t>
            </a:r>
            <a:endParaRPr lang="en-US" sz="2200" dirty="0"/>
          </a:p>
          <a:p>
            <a:pPr>
              <a:lnSpc>
                <a:spcPts val="2640"/>
              </a:lnSpc>
              <a:spcBef>
                <a:spcPts val="1500"/>
              </a:spcBef>
            </a:pPr>
            <a:r>
              <a:rPr lang="en-US" sz="2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p-value determines significance</a:t>
            </a:r>
            <a:endParaRPr lang="en-US" sz="2200" dirty="0"/>
          </a:p>
          <a:p>
            <a:pPr>
              <a:lnSpc>
                <a:spcPts val="2640"/>
              </a:lnSpc>
              <a:spcBef>
                <a:spcPts val="1500"/>
              </a:spcBef>
            </a:pPr>
            <a:r>
              <a:rPr lang="en-US" sz="2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p-value: reject null hypothesis</a:t>
            </a:r>
            <a:endParaRPr lang="en-US" sz="2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38BD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38BD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74552" y="6473952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56032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spc="5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Goodness of Fit?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74552" cy="0"/>
          </a:xfrm>
          <a:prstGeom prst="line">
            <a:avLst/>
          </a:prstGeom>
          <a:noFill/>
          <a:ln w="19050">
            <a:solidFill>
              <a:srgbClr val="38BDF8">
                <a:alpha val="6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71600"/>
            <a:ext cx="112471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ts val="2640"/>
              </a:lnSpc>
              <a:spcBef>
                <a:spcPts val="1500"/>
              </a:spcBef>
            </a:pPr>
            <a:r>
              <a:rPr lang="en-US" sz="2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Goodness of fit: how well data fits.</a:t>
            </a:r>
            <a:endParaRPr lang="en-US" sz="2200" dirty="0"/>
          </a:p>
          <a:p>
            <a:pPr>
              <a:lnSpc>
                <a:spcPts val="2640"/>
              </a:lnSpc>
              <a:spcBef>
                <a:spcPts val="1500"/>
              </a:spcBef>
            </a:pPr>
            <a:r>
              <a:rPr lang="en-US" sz="2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for difference between observed and expected.</a:t>
            </a:r>
            <a:endParaRPr lang="en-US" sz="2200" dirty="0"/>
          </a:p>
          <a:p>
            <a:pPr>
              <a:lnSpc>
                <a:spcPts val="2640"/>
              </a:lnSpc>
              <a:spcBef>
                <a:spcPts val="1500"/>
              </a:spcBef>
            </a:pPr>
            <a:r>
              <a:rPr lang="en-US" sz="2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Chi-Square test is used.</a:t>
            </a:r>
            <a:endParaRPr lang="en-US" sz="2200" dirty="0"/>
          </a:p>
          <a:p>
            <a:pPr>
              <a:lnSpc>
                <a:spcPts val="2640"/>
              </a:lnSpc>
              <a:spcBef>
                <a:spcPts val="1500"/>
              </a:spcBef>
            </a:pPr>
            <a:r>
              <a:rPr lang="en-US" sz="2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fit: data is consistent.</a:t>
            </a:r>
            <a:endParaRPr lang="en-US" sz="2200" dirty="0"/>
          </a:p>
          <a:p>
            <a:pPr>
              <a:lnSpc>
                <a:spcPts val="2640"/>
              </a:lnSpc>
              <a:spcBef>
                <a:spcPts val="1500"/>
              </a:spcBef>
            </a:pPr>
            <a:r>
              <a:rPr lang="en-US" sz="2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fit: data has big differences.</a:t>
            </a:r>
            <a:endParaRPr lang="en-US" sz="2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38BD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38BD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74552" y="6473952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56032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spc="5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Chi-Square Test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74552" cy="0"/>
          </a:xfrm>
          <a:prstGeom prst="line">
            <a:avLst/>
          </a:prstGeom>
          <a:noFill/>
          <a:ln w="19050">
            <a:solidFill>
              <a:srgbClr val="38BDF8">
                <a:alpha val="6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17320" y="1778508"/>
            <a:ext cx="274320" cy="27432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554480" y="2052828"/>
            <a:ext cx="0" cy="722376"/>
          </a:xfrm>
          <a:prstGeom prst="line">
            <a:avLst/>
          </a:prstGeom>
          <a:noFill/>
          <a:ln w="12700">
            <a:solidFill>
              <a:srgbClr val="38BDF8">
                <a:alpha val="4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714500"/>
            <a:ext cx="1005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920240" y="1623060"/>
            <a:ext cx="96012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hypothesis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417320" y="2775204"/>
            <a:ext cx="274320" cy="27432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554480" y="3049524"/>
            <a:ext cx="0" cy="722376"/>
          </a:xfrm>
          <a:prstGeom prst="line">
            <a:avLst/>
          </a:prstGeom>
          <a:noFill/>
          <a:ln w="12700">
            <a:solidFill>
              <a:srgbClr val="38BDF8">
                <a:alpha val="4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2711196"/>
            <a:ext cx="1005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920240" y="2619756"/>
            <a:ext cx="96012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expected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417320" y="3771900"/>
            <a:ext cx="274320" cy="27432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554480" y="4046220"/>
            <a:ext cx="0" cy="722376"/>
          </a:xfrm>
          <a:prstGeom prst="line">
            <a:avLst/>
          </a:prstGeom>
          <a:noFill/>
          <a:ln w="12700">
            <a:solidFill>
              <a:srgbClr val="38BDF8">
                <a:alpha val="4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3707892"/>
            <a:ext cx="1005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920240" y="3616452"/>
            <a:ext cx="96012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data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417320" y="4768596"/>
            <a:ext cx="274320" cy="27432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554480" y="5042916"/>
            <a:ext cx="0" cy="722376"/>
          </a:xfrm>
          <a:prstGeom prst="line">
            <a:avLst/>
          </a:prstGeom>
          <a:noFill/>
          <a:ln w="12700">
            <a:solidFill>
              <a:srgbClr val="38BDF8">
                <a:alpha val="4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4704588"/>
            <a:ext cx="1005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920240" y="4613148"/>
            <a:ext cx="96012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Chi-Square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417320" y="5765292"/>
            <a:ext cx="274320" cy="27432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5701284"/>
            <a:ext cx="1005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920240" y="5609844"/>
            <a:ext cx="96012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critical value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38BD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38BD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74552" y="6473952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56032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spc="5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Chi-Square Test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74552" cy="0"/>
          </a:xfrm>
          <a:prstGeom prst="line">
            <a:avLst/>
          </a:prstGeom>
          <a:noFill/>
          <a:ln w="19050">
            <a:solidFill>
              <a:srgbClr val="38BDF8">
                <a:alpha val="6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71600"/>
            <a:ext cx="71323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ts val="2160"/>
              </a:lnSpc>
              <a:spcBef>
                <a:spcPts val="1300"/>
              </a:spcBef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Games of chance</a:t>
            </a:r>
            <a:endParaRPr lang="en-US" sz="1800" dirty="0"/>
          </a:p>
          <a:p>
            <a:pPr>
              <a:lnSpc>
                <a:spcPts val="2160"/>
              </a:lnSpc>
              <a:spcBef>
                <a:spcPts val="1300"/>
              </a:spcBef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data</a:t>
            </a:r>
            <a:endParaRPr lang="en-US" sz="1800" dirty="0"/>
          </a:p>
          <a:p>
            <a:pPr>
              <a:lnSpc>
                <a:spcPts val="2160"/>
              </a:lnSpc>
              <a:spcBef>
                <a:spcPts val="1300"/>
              </a:spcBef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trends</a:t>
            </a:r>
            <a:endParaRPr lang="en-US" sz="1800" dirty="0"/>
          </a:p>
          <a:p>
            <a:pPr>
              <a:lnSpc>
                <a:spcPts val="2160"/>
              </a:lnSpc>
              <a:spcBef>
                <a:spcPts val="1300"/>
              </a:spcBef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800" dirty="0"/>
          </a:p>
          <a:p>
            <a:pPr>
              <a:lnSpc>
                <a:spcPts val="2160"/>
              </a:lnSpc>
              <a:spcBef>
                <a:spcPts val="1300"/>
              </a:spcBef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research</a:t>
            </a:r>
            <a:endParaRPr lang="en-US" sz="1800" dirty="0"/>
          </a:p>
        </p:txBody>
      </p:sp>
      <p:pic>
        <p:nvPicPr>
          <p:cNvPr id="8" name="Image 0" descr="https://image.pollinations.ai/prompt/statistician%20with%20data?width=800&amp;height=600&amp;seed=898499&amp;model=flux&amp;nologo=tr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1371600"/>
            <a:ext cx="4114800" cy="5120640"/>
          </a:xfrm>
          <a:prstGeom prst="ellipse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38BD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38BD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74552" y="6473952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56032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spc="5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Chi-Square Statistic Calculator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74552" cy="0"/>
          </a:xfrm>
          <a:prstGeom prst="line">
            <a:avLst/>
          </a:prstGeom>
          <a:noFill/>
          <a:ln w="19050">
            <a:solidFill>
              <a:srgbClr val="38BDF8">
                <a:alpha val="60000"/>
              </a:srgbClr>
            </a:solidFill>
            <a:prstDash val="solid"/>
          </a:ln>
        </p:spPr>
      </p:sp>
      <p:pic>
        <p:nvPicPr>
          <p:cNvPr id="7" name="Image 0" descr="https://image.pollinations.ai/prompt/A%20photorealistic%20image%20of%20a%20computer%20screen%20displaying%20a%20Chi-Square%20statistic%20calculator%20with%20input%20fields%20for%20observed%20and%20expected%20values%2C%20a%20calculate%20button%2C%20and%20a%20results%20table%20showing%20the%20Chi-Square%20statistic%2C%20degrees%20of%20freedom%2C%20and%20p-value.?width=800&amp;height=600&amp;seed=591795&amp;model=flux&amp;nologo=tr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11247120" cy="5120640"/>
          </a:xfrm>
          <a:prstGeom prst="ellipse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38BD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38BD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74552" y="6473952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56032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spc="5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74552" cy="0"/>
          </a:xfrm>
          <a:prstGeom prst="line">
            <a:avLst/>
          </a:prstGeom>
          <a:noFill/>
          <a:ln w="19050">
            <a:solidFill>
              <a:srgbClr val="38BDF8">
                <a:alpha val="6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71600"/>
            <a:ext cx="71323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ts val="2160"/>
              </a:lnSpc>
              <a:spcBef>
                <a:spcPts val="1300"/>
              </a:spcBef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Chi-Square: goodness of fit</a:t>
            </a:r>
            <a:endParaRPr lang="en-US" sz="1800" dirty="0"/>
          </a:p>
          <a:p>
            <a:pPr>
              <a:lnSpc>
                <a:spcPts val="2160"/>
              </a:lnSpc>
              <a:spcBef>
                <a:spcPts val="1300"/>
              </a:spcBef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observed vs expected</a:t>
            </a:r>
            <a:endParaRPr lang="en-US" sz="1800" dirty="0"/>
          </a:p>
          <a:p>
            <a:pPr>
              <a:lnSpc>
                <a:spcPts val="2160"/>
              </a:lnSpc>
              <a:spcBef>
                <a:spcPts val="1300"/>
              </a:spcBef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 many fields</a:t>
            </a:r>
            <a:endParaRPr lang="en-US" sz="1800" dirty="0"/>
          </a:p>
          <a:p>
            <a:pPr>
              <a:lnSpc>
                <a:spcPts val="2160"/>
              </a:lnSpc>
              <a:spcBef>
                <a:spcPts val="1300"/>
              </a:spcBef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 for data analysis</a:t>
            </a:r>
            <a:endParaRPr lang="en-US" sz="1800" dirty="0"/>
          </a:p>
          <a:p>
            <a:pPr>
              <a:lnSpc>
                <a:spcPts val="2160"/>
              </a:lnSpc>
              <a:spcBef>
                <a:spcPts val="1300"/>
              </a:spcBef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distribution fit</a:t>
            </a:r>
            <a:endParaRPr lang="en-US" sz="1800" dirty="0"/>
          </a:p>
        </p:txBody>
      </p:sp>
      <p:pic>
        <p:nvPicPr>
          <p:cNvPr id="8" name="Image 0" descr="https://image.pollinations.ai/prompt/simple%20Chi-Square%20distribution%20curve?width=800&amp;height=600&amp;seed=922218&amp;model=flux&amp;nologo=tr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1371600"/>
            <a:ext cx="4114800" cy="5120640"/>
          </a:xfrm>
          <a:prstGeom prst="ellipse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38BD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38BD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74552" y="6473952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114800" y="1097280"/>
            <a:ext cx="3657600" cy="3657600"/>
          </a:xfrm>
          <a:prstGeom prst="ellipse">
            <a:avLst/>
          </a:prstGeom>
          <a:solidFill>
            <a:srgbClr val="38BDF8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2296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38BDF8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</a:t>
            </a:r>
            <a:endParaRPr lang="en-US" sz="12000" dirty="0"/>
          </a:p>
        </p:txBody>
      </p:sp>
      <p:sp>
        <p:nvSpPr>
          <p:cNvPr id="7" name="Text 5"/>
          <p:cNvSpPr/>
          <p:nvPr/>
        </p:nvSpPr>
        <p:spPr>
          <a:xfrm>
            <a:off x="1097280" y="1828800"/>
            <a:ext cx="98755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i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Chi-Square Distribution &amp; Goodness of Fit</dc:title>
  <dc:subject>Chi-Square Distribution &amp; Goodness of Fit</dc:subject>
  <dc:creator>VisionText AI</dc:creator>
  <cp:lastModifiedBy>VisionText AI</cp:lastModifiedBy>
  <cp:revision>1</cp:revision>
  <dcterms:created xsi:type="dcterms:W3CDTF">2026-04-23T11:05:53Z</dcterms:created>
  <dcterms:modified xsi:type="dcterms:W3CDTF">2026-04-23T11:05:53Z</dcterms:modified>
</cp:coreProperties>
</file>