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2A0615-1CEA-446C-8BAD-C2EFBD77DDC4}" v="7" dt="2026-04-23T12:37:03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een galennaver" userId="349d8fa50116ba6f" providerId="LiveId" clId="{76CE5995-7C79-4423-A536-9E77C3B093FD}"/>
    <pc:docChg chg="undo custSel addSld modSld">
      <pc:chgData name="Naveen galennaver" userId="349d8fa50116ba6f" providerId="LiveId" clId="{76CE5995-7C79-4423-A536-9E77C3B093FD}" dt="2026-04-23T12:37:12.402" v="26" actId="207"/>
      <pc:docMkLst>
        <pc:docMk/>
      </pc:docMkLst>
      <pc:sldChg chg="modSp mod">
        <pc:chgData name="Naveen galennaver" userId="349d8fa50116ba6f" providerId="LiveId" clId="{76CE5995-7C79-4423-A536-9E77C3B093FD}" dt="2026-04-23T12:22:30.662" v="1" actId="14100"/>
        <pc:sldMkLst>
          <pc:docMk/>
          <pc:sldMk cId="3221977158" sldId="256"/>
        </pc:sldMkLst>
        <pc:spChg chg="mod">
          <ac:chgData name="Naveen galennaver" userId="349d8fa50116ba6f" providerId="LiveId" clId="{76CE5995-7C79-4423-A536-9E77C3B093FD}" dt="2026-04-23T12:22:30.662" v="1" actId="14100"/>
          <ac:spMkLst>
            <pc:docMk/>
            <pc:sldMk cId="3221977158" sldId="256"/>
            <ac:spMk id="2" creationId="{EF9FB505-D85C-9550-489F-215BAB8A21D7}"/>
          </ac:spMkLst>
        </pc:spChg>
      </pc:sldChg>
      <pc:sldChg chg="addSp delSp modSp new mod">
        <pc:chgData name="Naveen galennaver" userId="349d8fa50116ba6f" providerId="LiveId" clId="{76CE5995-7C79-4423-A536-9E77C3B093FD}" dt="2026-04-23T12:37:12.402" v="26" actId="207"/>
        <pc:sldMkLst>
          <pc:docMk/>
          <pc:sldMk cId="3447718706" sldId="272"/>
        </pc:sldMkLst>
        <pc:spChg chg="add del mod">
          <ac:chgData name="Naveen galennaver" userId="349d8fa50116ba6f" providerId="LiveId" clId="{76CE5995-7C79-4423-A536-9E77C3B093FD}" dt="2026-04-23T12:35:51.208" v="10"/>
          <ac:spMkLst>
            <pc:docMk/>
            <pc:sldMk cId="3447718706" sldId="272"/>
            <ac:spMk id="2" creationId="{CDA2556F-94B7-0691-3746-5468F3E951BB}"/>
          </ac:spMkLst>
        </pc:spChg>
        <pc:spChg chg="add mod">
          <ac:chgData name="Naveen galennaver" userId="349d8fa50116ba6f" providerId="LiveId" clId="{76CE5995-7C79-4423-A536-9E77C3B093FD}" dt="2026-04-23T12:37:12.402" v="26" actId="207"/>
          <ac:spMkLst>
            <pc:docMk/>
            <pc:sldMk cId="3447718706" sldId="272"/>
            <ac:spMk id="3" creationId="{B360DD63-12ED-F36B-0531-D3F777B0AE5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7184-D92E-AA70-E2FD-EC3F71CA3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E08E7-B4AB-A005-C657-5BD098D11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97067-E6BE-5CC2-D33B-B53E38E89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BFD3-F125-4DAA-8EDE-137D40DF73C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BE155-949D-ECCA-166B-5F645570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70227-5F01-8366-90D5-6F64800D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405-7E39-45B2-8367-5BEEEAD21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00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A4A31-AAE8-6150-2869-1DABFB593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351A5-6772-B283-5FC1-519908823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E877-9A18-3445-F818-491CCB21E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BFD3-F125-4DAA-8EDE-137D40DF73C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5B963-6448-75C3-8F37-728483AEA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EB483-7A8D-07BF-28E9-4CF6A955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405-7E39-45B2-8367-5BEEEAD21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8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3D937-0A81-FCEB-1590-BF3081942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4D61C-AAD4-7650-D4BD-41DBD87A6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99D22-BA46-2C4D-A3B8-E1302F4C8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BFD3-F125-4DAA-8EDE-137D40DF73C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EFDF6-7E2E-33B2-0F83-C330EB1F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C9965-7A73-2BA3-83B4-A40F14E9D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405-7E39-45B2-8367-5BEEEAD21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62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94B1-B415-1747-C7D2-8A90334A2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DA20C-50B1-2D8B-60F7-5A7883EE0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51EA7-924F-2DF2-7F8A-BB5EC8F0A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311F7-8B0C-0DF8-3286-BA19753FA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BFD3-F125-4DAA-8EDE-137D40DF73C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F1D76-8CEE-2FAE-1B4F-6FF5E4153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7FD21-F9DD-E060-B2D4-EB963933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405-7E39-45B2-8367-5BEEEAD21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98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6954A-2099-E8FE-E29A-FBDD4312B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5629C-2939-E0B4-ADE4-D5EFA0981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86993-67DD-F012-69AA-F43ACE37D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25EAFF-7AF9-D0F0-63D4-4872EC1B8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6F672-783B-0618-0E0A-F2ED2FC39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FE232-7BBE-FE7F-0187-10BA51C5E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BFD3-F125-4DAA-8EDE-137D40DF73C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08834-2709-ADC3-FFFB-B4CC98B18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92523F-5781-6017-DA5E-27E88A3F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405-7E39-45B2-8367-5BEEEAD21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588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2535-C09D-3414-F40F-D8DF437E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2CE582-5A2D-59BA-5590-849EA676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BFD3-F125-4DAA-8EDE-137D40DF73C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216E0-B19D-EF7B-D244-B3E472DE8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858FD-7658-4EA3-6FBB-2D62B970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405-7E39-45B2-8367-5BEEEAD21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809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183C7-AC59-7341-465F-DD9102729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BFD3-F125-4DAA-8EDE-137D40DF73C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3159B4-06CB-27B2-29B0-5F5E8DA4F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F8864-0164-13DA-D045-BBF12694C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405-7E39-45B2-8367-5BEEEAD21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923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3DE79-4134-F2B1-C47F-F5E9A8886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D327B-95A0-6626-C452-C451C88F1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2878A-BA5F-239F-9DE3-4E490B087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F986F-6176-ED5F-30EF-DE4C22E4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BFD3-F125-4DAA-8EDE-137D40DF73C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A8A1B-7B04-CFEA-54C0-B56B4C370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B0AF1-B7E2-3D61-AED6-8EB544595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405-7E39-45B2-8367-5BEEEAD21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205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B9BDC-27D4-1E26-96AC-114FB864D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A0537C-1A80-0B32-15E6-D1C19C15A0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01B2D-43E2-6DBD-754E-555AF064C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8AC72-BC07-1219-AAB8-75D0BFC5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BFD3-F125-4DAA-8EDE-137D40DF73C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96379-9E54-490E-E975-8B193C37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A8BBA-B9C9-2D76-AE5B-E6BAAB270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405-7E39-45B2-8367-5BEEEAD21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AB4B-F786-8DE1-906C-745C2505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CD86C-9FDE-2BA9-EB75-D24B9FFD9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742E9-2C1E-C65B-B02C-5A1F527DE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BFD3-F125-4DAA-8EDE-137D40DF73C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57F64-B05E-91E5-9201-AF6BE3E3A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DB6B8-AE70-4BF2-3140-12265DA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405-7E39-45B2-8367-5BEEEAD21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5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EC584-7177-ACBF-4A64-0E9EE30FB5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44563-DD57-AA23-77E9-5D8A2F3E6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61F10-6B61-8070-0B7C-3CF6F360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BFD3-F125-4DAA-8EDE-137D40DF73C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6F464-9650-4A7E-D0EF-1DD5DAB9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5C23B-A215-DA31-C55E-08E98D2F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405-7E39-45B2-8367-5BEEEAD21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54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E6441C-D986-DC98-5B78-B35AD16EF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C9D2F-E23C-2CF1-0A57-C28D94460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140A0-F51D-E1FE-B374-ED5BC7510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FABFD3-F125-4DAA-8EDE-137D40DF73C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2C132-F7DA-ED8A-627B-E8DAE8262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F9863-94B1-40C8-D992-AD1EA79F0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7F405-7E39-45B2-8367-5BEEEAD215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46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B505-D85C-9550-489F-215BAB8A2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9" y="1122363"/>
            <a:ext cx="11877151" cy="23876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Chi-Square Distribution &amp; Goodness of Fit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D59D1-F9C6-DE5E-3D2C-679B3C2D1C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1977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8D4FE-77A1-9789-EBB4-36962DCDD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000" dirty="0">
                <a:solidFill>
                  <a:srgbClr val="C00000"/>
                </a:solidFill>
              </a:rPr>
              <a:t>Real-Life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C9109-5EAE-56AC-0734-73AE3178D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700" dirty="0"/>
              <a:t>In real life, results are not always perfect </a:t>
            </a:r>
          </a:p>
          <a:p>
            <a:endParaRPr lang="en-US" sz="4700" dirty="0"/>
          </a:p>
          <a:p>
            <a:r>
              <a:rPr lang="en-US" sz="4700" dirty="0"/>
              <a:t>We expect something, but actual results are different </a:t>
            </a:r>
          </a:p>
          <a:p>
            <a:pPr marL="0" indent="0">
              <a:buNone/>
            </a:pPr>
            <a:endParaRPr lang="en-IN" sz="4700" dirty="0"/>
          </a:p>
        </p:txBody>
      </p:sp>
    </p:spTree>
    <p:extLst>
      <p:ext uri="{BB962C8B-B14F-4D97-AF65-F5344CB8AC3E}">
        <p14:creationId xmlns:p14="http://schemas.microsoft.com/office/powerpoint/2010/main" val="1915591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1C1E1-7784-B24E-59C3-FE8364587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0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17764-F953-B07A-0B38-34955604D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/>
          </a:bodyPr>
          <a:lstStyle/>
          <a:p>
            <a:r>
              <a:rPr lang="en-US" sz="4900" dirty="0"/>
              <a:t>A dice is rolled 60 times </a:t>
            </a:r>
          </a:p>
          <a:p>
            <a:r>
              <a:rPr lang="en-US" sz="4900" dirty="0"/>
              <a:t>Expected (if fair):</a:t>
            </a:r>
            <a:br>
              <a:rPr lang="en-US" sz="4900" dirty="0"/>
            </a:br>
            <a:r>
              <a:rPr lang="en-US" sz="4900" dirty="0"/>
              <a:t>10, 10, 10, 10, 10, 10</a:t>
            </a:r>
          </a:p>
          <a:p>
            <a:r>
              <a:rPr lang="en-US" sz="4900" dirty="0"/>
              <a:t>Observed (actual):</a:t>
            </a:r>
            <a:br>
              <a:rPr lang="en-US" sz="4900" dirty="0"/>
            </a:br>
            <a:r>
              <a:rPr lang="en-US" sz="4900" dirty="0"/>
              <a:t>8, 12, 9, 11, 10, 10</a:t>
            </a:r>
          </a:p>
          <a:p>
            <a:endParaRPr lang="en-IN" sz="4900" dirty="0"/>
          </a:p>
        </p:txBody>
      </p:sp>
    </p:spTree>
    <p:extLst>
      <p:ext uri="{BB962C8B-B14F-4D97-AF65-F5344CB8AC3E}">
        <p14:creationId xmlns:p14="http://schemas.microsoft.com/office/powerpoint/2010/main" val="3651736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A0DB5-2F68-F7F6-3FBB-49C3B7E1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195268" cy="740194"/>
          </a:xfrm>
        </p:spPr>
        <p:txBody>
          <a:bodyPr>
            <a:normAutofit fontScale="90000"/>
          </a:bodyPr>
          <a:lstStyle/>
          <a:p>
            <a:r>
              <a:rPr lang="en-IN" sz="5000" dirty="0">
                <a:solidFill>
                  <a:srgbClr val="C00000"/>
                </a:solidFill>
              </a:rPr>
              <a:t>Understanding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789EE-94D0-B393-DC73-6FEBC9647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382"/>
            <a:ext cx="10515600" cy="5166492"/>
          </a:xfrm>
        </p:spPr>
        <p:txBody>
          <a:bodyPr>
            <a:normAutofit/>
          </a:bodyPr>
          <a:lstStyle/>
          <a:p>
            <a:r>
              <a:rPr lang="en-US" sz="4700" dirty="0"/>
              <a:t>Expected = what should happen </a:t>
            </a:r>
          </a:p>
          <a:p>
            <a:r>
              <a:rPr lang="en-US" sz="4700" dirty="0"/>
              <a:t>Observed = what actually happened </a:t>
            </a:r>
          </a:p>
          <a:p>
            <a:r>
              <a:rPr lang="en-US" sz="4700" dirty="0"/>
              <a:t>👉 Now we need to check:</a:t>
            </a:r>
          </a:p>
          <a:p>
            <a:r>
              <a:rPr lang="en-US" sz="4700" dirty="0"/>
              <a:t>Difference is small → OK </a:t>
            </a:r>
          </a:p>
          <a:p>
            <a:r>
              <a:rPr lang="en-US" sz="4700" dirty="0"/>
              <a:t>Difference is large → Problem</a:t>
            </a:r>
          </a:p>
          <a:p>
            <a:endParaRPr lang="en-IN" sz="4700" dirty="0"/>
          </a:p>
        </p:txBody>
      </p:sp>
    </p:spTree>
    <p:extLst>
      <p:ext uri="{BB962C8B-B14F-4D97-AF65-F5344CB8AC3E}">
        <p14:creationId xmlns:p14="http://schemas.microsoft.com/office/powerpoint/2010/main" val="3195701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A101-8258-D907-478A-6986816E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000" dirty="0">
                <a:solidFill>
                  <a:srgbClr val="C00000"/>
                </a:solidFill>
              </a:rPr>
              <a:t>Meaning of “Fair”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6D6BC9-48D2-8028-917E-7BFA607B35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46940"/>
            <a:ext cx="9837950" cy="370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 = equal chance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dice: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number has same probability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expected values are equal </a:t>
            </a:r>
          </a:p>
        </p:txBody>
      </p:sp>
    </p:spTree>
    <p:extLst>
      <p:ext uri="{BB962C8B-B14F-4D97-AF65-F5344CB8AC3E}">
        <p14:creationId xmlns:p14="http://schemas.microsoft.com/office/powerpoint/2010/main" val="4156856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9974-4A44-C722-05C7-9EC3BAF3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000" dirty="0">
                <a:solidFill>
                  <a:srgbClr val="C00000"/>
                </a:solidFill>
              </a:rPr>
              <a:t>Solution Idea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4627C6-0EA4-FB01-77C3-AC795C893A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100484" y="2397943"/>
            <a:ext cx="13461207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need a method to measure the difference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method is called </a:t>
            </a:r>
            <a:r>
              <a:rPr kumimoji="0" lang="en-US" altLang="en-US" sz="4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Chi-Square Test</a:t>
            </a: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47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5CF0-54AE-746E-92E9-5CE2CFC56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000" dirty="0">
                <a:solidFill>
                  <a:srgbClr val="C00000"/>
                </a:solidFill>
              </a:rPr>
              <a:t>What is Chi-Square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54B14-F0E9-B331-B847-EB1778A61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700" dirty="0"/>
              <a:t>A statistical test </a:t>
            </a:r>
          </a:p>
          <a:p>
            <a:r>
              <a:rPr lang="en-US" sz="4700" dirty="0"/>
              <a:t>Compares observed and expected values </a:t>
            </a:r>
          </a:p>
          <a:p>
            <a:r>
              <a:rPr lang="en-US" sz="4700" dirty="0"/>
              <a:t>👉 It tells:</a:t>
            </a:r>
            <a:br>
              <a:rPr lang="en-US" sz="4700" dirty="0"/>
            </a:br>
            <a:r>
              <a:rPr lang="en-US" sz="4700" b="1" dirty="0"/>
              <a:t>Is the difference small or large?</a:t>
            </a:r>
            <a:endParaRPr lang="en-US" sz="4700" dirty="0"/>
          </a:p>
          <a:p>
            <a:endParaRPr lang="en-IN" sz="4700" dirty="0"/>
          </a:p>
        </p:txBody>
      </p:sp>
    </p:spTree>
    <p:extLst>
      <p:ext uri="{BB962C8B-B14F-4D97-AF65-F5344CB8AC3E}">
        <p14:creationId xmlns:p14="http://schemas.microsoft.com/office/powerpoint/2010/main" val="3212128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B5DF4-1F98-5CF3-0F9B-69FA7FE2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03D64-F024-0D4B-20DD-E952CF871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982" y="1825625"/>
            <a:ext cx="11485266" cy="4351338"/>
          </a:xfrm>
        </p:spPr>
        <p:txBody>
          <a:bodyPr>
            <a:normAutofit/>
          </a:bodyPr>
          <a:lstStyle/>
          <a:p>
            <a:r>
              <a:rPr lang="el-GR" sz="4700" dirty="0"/>
              <a:t>χ² = Σ (</a:t>
            </a:r>
            <a:r>
              <a:rPr lang="en-IN" sz="4700" dirty="0"/>
              <a:t>O − E)² / E</a:t>
            </a:r>
          </a:p>
          <a:p>
            <a:r>
              <a:rPr lang="en-IN" sz="4700" dirty="0"/>
              <a:t>Where:</a:t>
            </a:r>
          </a:p>
          <a:p>
            <a:r>
              <a:rPr lang="en-IN" sz="4700" dirty="0"/>
              <a:t>O = Observed </a:t>
            </a:r>
          </a:p>
          <a:p>
            <a:r>
              <a:rPr lang="en-IN" sz="4700" dirty="0"/>
              <a:t>E = Expected </a:t>
            </a:r>
          </a:p>
          <a:p>
            <a:r>
              <a:rPr lang="en-IN" sz="4700" dirty="0"/>
              <a:t>👉 This gives total difference</a:t>
            </a:r>
          </a:p>
          <a:p>
            <a:endParaRPr lang="en-IN" sz="4700" dirty="0"/>
          </a:p>
        </p:txBody>
      </p:sp>
    </p:spTree>
    <p:extLst>
      <p:ext uri="{BB962C8B-B14F-4D97-AF65-F5344CB8AC3E}">
        <p14:creationId xmlns:p14="http://schemas.microsoft.com/office/powerpoint/2010/main" val="1278734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49111-A249-6260-14C0-6D0406CB3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000" dirty="0">
                <a:solidFill>
                  <a:srgbClr val="C00000"/>
                </a:solidFill>
              </a:rPr>
              <a:t>Apply Formula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55BC3-9668-D9F2-57A8-D19B57B37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700" dirty="0"/>
              <a:t>Observed: 8, 12, 9, 11, 10, 10</a:t>
            </a:r>
            <a:br>
              <a:rPr lang="en-US" sz="4700" dirty="0"/>
            </a:br>
            <a:r>
              <a:rPr lang="en-US" sz="4700" dirty="0"/>
              <a:t>Expected: 10, 10, 10, 10, 10, 10</a:t>
            </a:r>
          </a:p>
          <a:p>
            <a:r>
              <a:rPr lang="en-US" sz="4700" dirty="0"/>
              <a:t>👉 Final result:</a:t>
            </a:r>
          </a:p>
          <a:p>
            <a:r>
              <a:rPr lang="en-US" sz="4700" dirty="0"/>
              <a:t>χ² = 1.0</a:t>
            </a:r>
          </a:p>
          <a:p>
            <a:endParaRPr lang="en-IN" sz="4700" dirty="0"/>
          </a:p>
        </p:txBody>
      </p:sp>
    </p:spTree>
    <p:extLst>
      <p:ext uri="{BB962C8B-B14F-4D97-AF65-F5344CB8AC3E}">
        <p14:creationId xmlns:p14="http://schemas.microsoft.com/office/powerpoint/2010/main" val="3251503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64A0-290B-0B12-1398-91D64F92C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95" y="-187535"/>
            <a:ext cx="10515600" cy="1325563"/>
          </a:xfrm>
        </p:spPr>
        <p:txBody>
          <a:bodyPr>
            <a:normAutofit/>
          </a:bodyPr>
          <a:lstStyle/>
          <a:p>
            <a:r>
              <a:rPr lang="en-IN" sz="5000" dirty="0">
                <a:solidFill>
                  <a:srgbClr val="C00000"/>
                </a:solidFill>
              </a:rPr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363A8-9377-0949-9E78-336B1430C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905" y="856675"/>
            <a:ext cx="11575700" cy="4486275"/>
          </a:xfrm>
        </p:spPr>
        <p:txBody>
          <a:bodyPr>
            <a:normAutofit fontScale="92500" lnSpcReduction="20000"/>
          </a:bodyPr>
          <a:lstStyle/>
          <a:p>
            <a:r>
              <a:rPr lang="en-US" sz="4700" dirty="0"/>
              <a:t>H₀ (Null Hypothesis):</a:t>
            </a:r>
            <a:br>
              <a:rPr lang="en-US" sz="4700" dirty="0"/>
            </a:br>
            <a:r>
              <a:rPr lang="en-US" sz="4700" b="1" dirty="0"/>
              <a:t>Dice is fair (no problem)</a:t>
            </a:r>
          </a:p>
          <a:p>
            <a:endParaRPr lang="en-US" sz="4700" dirty="0"/>
          </a:p>
          <a:p>
            <a:r>
              <a:rPr lang="en-US" sz="4700" dirty="0"/>
              <a:t> H₁ (Alternative Hypothesis):</a:t>
            </a:r>
            <a:br>
              <a:rPr lang="en-US" sz="4700" dirty="0"/>
            </a:br>
            <a:r>
              <a:rPr lang="en-US" sz="4700" b="1" dirty="0"/>
              <a:t>Dice is not fair (problem exists)</a:t>
            </a:r>
          </a:p>
          <a:p>
            <a:endParaRPr lang="en-US" sz="4700" dirty="0"/>
          </a:p>
          <a:p>
            <a:r>
              <a:rPr lang="en-US" sz="4700" dirty="0"/>
              <a:t> Goal:</a:t>
            </a:r>
            <a:br>
              <a:rPr lang="en-US" sz="4700" dirty="0"/>
            </a:br>
            <a:r>
              <a:rPr lang="en-US" sz="4700" dirty="0"/>
              <a:t>We will check which is correct using χ²</a:t>
            </a:r>
          </a:p>
          <a:p>
            <a:endParaRPr lang="en-IN" sz="4700" dirty="0"/>
          </a:p>
        </p:txBody>
      </p:sp>
    </p:spTree>
    <p:extLst>
      <p:ext uri="{BB962C8B-B14F-4D97-AF65-F5344CB8AC3E}">
        <p14:creationId xmlns:p14="http://schemas.microsoft.com/office/powerpoint/2010/main" val="1789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B11AA-35A5-E271-B631-45D3E8529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000" dirty="0">
                <a:solidFill>
                  <a:srgbClr val="C00000"/>
                </a:solidFill>
              </a:rPr>
              <a:t>Degrees of Freedom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8829-F02A-2616-7FC0-812ACD7B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700" dirty="0"/>
              <a:t>Number of categories = 6 (dice faces) </a:t>
            </a:r>
          </a:p>
          <a:p>
            <a:r>
              <a:rPr lang="en-US" sz="4700" dirty="0"/>
              <a:t>Formula: </a:t>
            </a:r>
            <a:r>
              <a:rPr lang="en-US" sz="4700" b="1" dirty="0" err="1"/>
              <a:t>df</a:t>
            </a:r>
            <a:r>
              <a:rPr lang="en-US" sz="4700" b="1" dirty="0"/>
              <a:t> = n − 1</a:t>
            </a:r>
            <a:r>
              <a:rPr lang="en-US" sz="4700" dirty="0"/>
              <a:t> </a:t>
            </a:r>
          </a:p>
          <a:p>
            <a:r>
              <a:rPr lang="en-US" sz="4700" dirty="0" err="1"/>
              <a:t>df</a:t>
            </a:r>
            <a:r>
              <a:rPr lang="en-US" sz="4700" dirty="0"/>
              <a:t> = 6 − 1 = </a:t>
            </a:r>
            <a:r>
              <a:rPr lang="en-US" sz="4700" b="1" dirty="0"/>
              <a:t>5</a:t>
            </a:r>
            <a:endParaRPr lang="en-US" sz="4700" dirty="0"/>
          </a:p>
          <a:p>
            <a:r>
              <a:rPr lang="en-US" sz="4700" dirty="0"/>
              <a:t> Why needed?</a:t>
            </a:r>
            <a:br>
              <a:rPr lang="en-US" sz="4700" dirty="0"/>
            </a:br>
            <a:r>
              <a:rPr lang="en-US" sz="4700" dirty="0"/>
              <a:t>To select the correct </a:t>
            </a:r>
            <a:r>
              <a:rPr lang="en-US" sz="4700" b="1" dirty="0"/>
              <a:t>reference value (table value)</a:t>
            </a:r>
            <a:endParaRPr lang="en-US" sz="4700" dirty="0"/>
          </a:p>
          <a:p>
            <a:endParaRPr lang="en-IN" sz="4700" dirty="0"/>
          </a:p>
        </p:txBody>
      </p:sp>
    </p:spTree>
    <p:extLst>
      <p:ext uri="{BB962C8B-B14F-4D97-AF65-F5344CB8AC3E}">
        <p14:creationId xmlns:p14="http://schemas.microsoft.com/office/powerpoint/2010/main" val="3876457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8F06-7ABE-91D7-4278-2328EE5D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864" y="-217679"/>
            <a:ext cx="10515600" cy="1325563"/>
          </a:xfrm>
        </p:spPr>
        <p:txBody>
          <a:bodyPr>
            <a:normAutofit/>
          </a:bodyPr>
          <a:lstStyle/>
          <a:p>
            <a:r>
              <a:rPr lang="en-IN" sz="5000" dirty="0">
                <a:solidFill>
                  <a:srgbClr val="C00000"/>
                </a:solidFill>
              </a:rPr>
              <a:t>Table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6B7BD-4525-B1B2-4680-E8BF47A5A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615"/>
            <a:ext cx="10988710" cy="5433385"/>
          </a:xfrm>
        </p:spPr>
        <p:txBody>
          <a:bodyPr>
            <a:noAutofit/>
          </a:bodyPr>
          <a:lstStyle/>
          <a:p>
            <a:r>
              <a:rPr lang="en-US" sz="4700" dirty="0"/>
              <a:t>Using </a:t>
            </a:r>
            <a:r>
              <a:rPr lang="en-US" sz="4700" dirty="0" err="1"/>
              <a:t>df</a:t>
            </a:r>
            <a:r>
              <a:rPr lang="en-US" sz="4700" dirty="0"/>
              <a:t> = 5 </a:t>
            </a:r>
          </a:p>
          <a:p>
            <a:r>
              <a:rPr lang="en-US" sz="4700" dirty="0"/>
              <a:t>From Chi-Square table → value ≈ </a:t>
            </a:r>
            <a:r>
              <a:rPr lang="en-US" sz="4700" b="1" dirty="0"/>
              <a:t>11</a:t>
            </a:r>
            <a:r>
              <a:rPr lang="en-US" sz="4700" dirty="0"/>
              <a:t> </a:t>
            </a:r>
          </a:p>
          <a:p>
            <a:r>
              <a:rPr lang="en-US" sz="4700" dirty="0"/>
              <a:t>Meaning:</a:t>
            </a:r>
            <a:br>
              <a:rPr lang="en-US" sz="4700" dirty="0"/>
            </a:br>
            <a:r>
              <a:rPr lang="en-US" sz="4700" dirty="0"/>
              <a:t>This is the </a:t>
            </a:r>
            <a:r>
              <a:rPr lang="en-US" sz="4700" b="1" dirty="0"/>
              <a:t>limit (boundary)</a:t>
            </a:r>
            <a:endParaRPr lang="en-US" sz="4700" dirty="0"/>
          </a:p>
          <a:p>
            <a:r>
              <a:rPr lang="en-US" sz="4700" dirty="0"/>
              <a:t>Below 11 → normal difference </a:t>
            </a:r>
          </a:p>
          <a:p>
            <a:r>
              <a:rPr lang="en-US" sz="4700" dirty="0"/>
              <a:t>Above 11 → large difference</a:t>
            </a:r>
          </a:p>
          <a:p>
            <a:endParaRPr lang="en-IN" sz="4700" dirty="0"/>
          </a:p>
        </p:txBody>
      </p:sp>
    </p:spTree>
    <p:extLst>
      <p:ext uri="{BB962C8B-B14F-4D97-AF65-F5344CB8AC3E}">
        <p14:creationId xmlns:p14="http://schemas.microsoft.com/office/powerpoint/2010/main" val="82878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D6BC-316F-BFDE-657F-92E8D203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64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5000" dirty="0">
                <a:solidFill>
                  <a:srgbClr val="C00000"/>
                </a:solidFill>
              </a:rPr>
              <a:t>Decision Rule (Main Logic)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DE5ED-66FA-8299-A6B1-8C59541E4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064" y="1426866"/>
            <a:ext cx="11132736" cy="4750097"/>
          </a:xfrm>
        </p:spPr>
        <p:txBody>
          <a:bodyPr>
            <a:noAutofit/>
          </a:bodyPr>
          <a:lstStyle/>
          <a:p>
            <a:r>
              <a:rPr lang="en-US" sz="4700" dirty="0"/>
              <a:t>Compare two things:</a:t>
            </a:r>
          </a:p>
          <a:p>
            <a:r>
              <a:rPr lang="en-US" sz="4700" dirty="0"/>
              <a:t>Calculated value (χ²) </a:t>
            </a:r>
          </a:p>
          <a:p>
            <a:r>
              <a:rPr lang="en-US" sz="4700" dirty="0"/>
              <a:t>Table value (limit) </a:t>
            </a:r>
          </a:p>
          <a:p>
            <a:r>
              <a:rPr lang="en-US" sz="4700" dirty="0"/>
              <a:t>👉 Rule:</a:t>
            </a:r>
          </a:p>
          <a:p>
            <a:r>
              <a:rPr lang="en-US" sz="4700" dirty="0"/>
              <a:t>If χ² is </a:t>
            </a:r>
            <a:r>
              <a:rPr lang="en-US" sz="4700" b="1" dirty="0"/>
              <a:t>small (below limit)</a:t>
            </a:r>
            <a:r>
              <a:rPr lang="en-US" sz="4700" dirty="0"/>
              <a:t> → Accept H₀ </a:t>
            </a:r>
          </a:p>
          <a:p>
            <a:r>
              <a:rPr lang="en-US" sz="4700" dirty="0"/>
              <a:t>If χ² is </a:t>
            </a:r>
            <a:r>
              <a:rPr lang="en-US" sz="4700" b="1" dirty="0"/>
              <a:t>large (above limit)</a:t>
            </a:r>
            <a:r>
              <a:rPr lang="en-US" sz="4700" dirty="0"/>
              <a:t> → Reject H₀</a:t>
            </a:r>
          </a:p>
          <a:p>
            <a:endParaRPr lang="en-IN" sz="4700" dirty="0"/>
          </a:p>
        </p:txBody>
      </p:sp>
    </p:spTree>
    <p:extLst>
      <p:ext uri="{BB962C8B-B14F-4D97-AF65-F5344CB8AC3E}">
        <p14:creationId xmlns:p14="http://schemas.microsoft.com/office/powerpoint/2010/main" val="3828024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A4F62B-87D0-3E72-E5B6-03B47F49D655}"/>
              </a:ext>
            </a:extLst>
          </p:cNvPr>
          <p:cNvSpPr txBox="1"/>
          <p:nvPr/>
        </p:nvSpPr>
        <p:spPr>
          <a:xfrm>
            <a:off x="622998" y="3246846"/>
            <a:ext cx="1125415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0" dirty="0">
                <a:solidFill>
                  <a:srgbClr val="C00000"/>
                </a:solidFill>
              </a:rPr>
              <a:t>Apply on Our Example</a:t>
            </a:r>
          </a:p>
        </p:txBody>
      </p:sp>
    </p:spTree>
    <p:extLst>
      <p:ext uri="{BB962C8B-B14F-4D97-AF65-F5344CB8AC3E}">
        <p14:creationId xmlns:p14="http://schemas.microsoft.com/office/powerpoint/2010/main" val="1809476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A018B-CA6D-7A90-7009-57BE83D91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27728"/>
            <a:ext cx="10515600" cy="1325563"/>
          </a:xfrm>
        </p:spPr>
        <p:txBody>
          <a:bodyPr>
            <a:normAutofit/>
          </a:bodyPr>
          <a:lstStyle/>
          <a:p>
            <a:r>
              <a:rPr lang="en-IN" sz="5000" dirty="0">
                <a:solidFill>
                  <a:srgbClr val="C00000"/>
                </a:solidFill>
              </a:rPr>
              <a:t>Goodness of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31B58-0F82-BB6D-CF4C-BF47CAF0A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87" y="1097835"/>
            <a:ext cx="11273413" cy="5079128"/>
          </a:xfrm>
        </p:spPr>
        <p:txBody>
          <a:bodyPr>
            <a:normAutofit/>
          </a:bodyPr>
          <a:lstStyle/>
          <a:p>
            <a:r>
              <a:rPr lang="en-US" sz="4700" dirty="0"/>
              <a:t>What we just checked is called:</a:t>
            </a:r>
          </a:p>
          <a:p>
            <a:r>
              <a:rPr lang="en-US" sz="4700" b="1" dirty="0"/>
              <a:t>Goodness of Fit</a:t>
            </a:r>
            <a:endParaRPr lang="en-US" sz="4700" dirty="0"/>
          </a:p>
          <a:p>
            <a:r>
              <a:rPr lang="en-US" sz="4700" dirty="0"/>
              <a:t>👉 Meaning:</a:t>
            </a:r>
          </a:p>
          <a:p>
            <a:r>
              <a:rPr lang="en-US" sz="4700" dirty="0"/>
              <a:t>Good fit → small difference → Accept </a:t>
            </a:r>
          </a:p>
          <a:p>
            <a:r>
              <a:rPr lang="en-US" sz="4700" dirty="0"/>
              <a:t>Poor fit → large difference → Reject</a:t>
            </a:r>
          </a:p>
        </p:txBody>
      </p:sp>
    </p:spTree>
    <p:extLst>
      <p:ext uri="{BB962C8B-B14F-4D97-AF65-F5344CB8AC3E}">
        <p14:creationId xmlns:p14="http://schemas.microsoft.com/office/powerpoint/2010/main" val="4001216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C3A6-F0AF-4399-2D1F-6FD7E680A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87" y="-482321"/>
            <a:ext cx="11273413" cy="1637881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Complete 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E43047-B601-4613-AB51-0BF27F82E3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1402" y="942945"/>
            <a:ext cx="10618786" cy="515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(what should happen)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Observed (what actually happened)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χ² (difference measure)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table value (limit)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both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decision </a:t>
            </a:r>
          </a:p>
        </p:txBody>
      </p:sp>
    </p:spTree>
    <p:extLst>
      <p:ext uri="{BB962C8B-B14F-4D97-AF65-F5344CB8AC3E}">
        <p14:creationId xmlns:p14="http://schemas.microsoft.com/office/powerpoint/2010/main" val="959418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60DD63-12ED-F36B-0531-D3F777B0A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88" y="-79653"/>
            <a:ext cx="12523596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Project: Chi-Square Analyzer (Flutter App)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mobile application to perform Chi-Square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inputs observed and expected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 calculates χ² automatically using formula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Compares with table value and gives 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Displays: Accept H₀ (Fair) or Reject H₀ (Not Fair)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user-friendly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Technologies Used: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Flutter, Dart</a:t>
            </a:r>
          </a:p>
        </p:txBody>
      </p:sp>
    </p:spTree>
    <p:extLst>
      <p:ext uri="{BB962C8B-B14F-4D97-AF65-F5344CB8AC3E}">
        <p14:creationId xmlns:p14="http://schemas.microsoft.com/office/powerpoint/2010/main" val="3447718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508</Words>
  <Application>Microsoft Office PowerPoint</Application>
  <PresentationFormat>Widescreen</PresentationFormat>
  <Paragraphs>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Chi-Square Distribution &amp; Goodness of Fit</vt:lpstr>
      <vt:lpstr>Real-Life Problem</vt:lpstr>
      <vt:lpstr>Example</vt:lpstr>
      <vt:lpstr>Understanding the Problem</vt:lpstr>
      <vt:lpstr>Meaning of “Fair”</vt:lpstr>
      <vt:lpstr>Solution Idea</vt:lpstr>
      <vt:lpstr>What is Chi-Square Test?</vt:lpstr>
      <vt:lpstr>Formula</vt:lpstr>
      <vt:lpstr>Apply Formula </vt:lpstr>
      <vt:lpstr>Hypothesis</vt:lpstr>
      <vt:lpstr>Degrees of Freedom </vt:lpstr>
      <vt:lpstr>Table Value</vt:lpstr>
      <vt:lpstr>Decision Rule (Main Logic)</vt:lpstr>
      <vt:lpstr>PowerPoint Presentation</vt:lpstr>
      <vt:lpstr>Goodness of Fit</vt:lpstr>
      <vt:lpstr>Complete Flow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galennaver</dc:creator>
  <cp:lastModifiedBy>Naveen galennaver</cp:lastModifiedBy>
  <cp:revision>1</cp:revision>
  <dcterms:created xsi:type="dcterms:W3CDTF">2026-04-23T11:59:55Z</dcterms:created>
  <dcterms:modified xsi:type="dcterms:W3CDTF">2026-04-23T12:37:19Z</dcterms:modified>
</cp:coreProperties>
</file>